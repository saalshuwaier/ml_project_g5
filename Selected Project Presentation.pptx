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League Spartan" charset="1" panose="000008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6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12" Target="../media/image18.png" Type="http://schemas.openxmlformats.org/officeDocument/2006/relationships/image"/><Relationship Id="rId13" Target="../media/image4.png" Type="http://schemas.openxmlformats.org/officeDocument/2006/relationships/image"/><Relationship Id="rId14" Target="../media/image5.svg" Type="http://schemas.openxmlformats.org/officeDocument/2006/relationships/image"/><Relationship Id="rId15" Target="../media/image2.png" Type="http://schemas.openxmlformats.org/officeDocument/2006/relationships/image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9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svg" Type="http://schemas.openxmlformats.org/officeDocument/2006/relationships/image"/><Relationship Id="rId2" Target="../media/image2.pn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5521268" y="-2507439"/>
            <a:ext cx="7245465" cy="19151371"/>
            <a:chOff x="0" y="0"/>
            <a:chExt cx="1908271" cy="50439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08271" cy="5043982"/>
            </a:xfrm>
            <a:custGeom>
              <a:avLst/>
              <a:gdLst/>
              <a:ahLst/>
              <a:cxnLst/>
              <a:rect r="r" b="b" t="t" l="l"/>
              <a:pathLst>
                <a:path h="5043982" w="1908271">
                  <a:moveTo>
                    <a:pt x="0" y="0"/>
                  </a:moveTo>
                  <a:lnTo>
                    <a:pt x="1908271" y="0"/>
                  </a:lnTo>
                  <a:lnTo>
                    <a:pt x="1908271" y="5043982"/>
                  </a:lnTo>
                  <a:lnTo>
                    <a:pt x="0" y="504398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908271" cy="5072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62177" y="199455"/>
            <a:ext cx="2767364" cy="1089073"/>
          </a:xfrm>
          <a:custGeom>
            <a:avLst/>
            <a:gdLst/>
            <a:ahLst/>
            <a:cxnLst/>
            <a:rect r="r" b="b" t="t" l="l"/>
            <a:pathLst>
              <a:path h="1089073" w="2767364">
                <a:moveTo>
                  <a:pt x="0" y="0"/>
                </a:moveTo>
                <a:lnTo>
                  <a:pt x="2767365" y="0"/>
                </a:lnTo>
                <a:lnTo>
                  <a:pt x="2767365" y="1089073"/>
                </a:lnTo>
                <a:lnTo>
                  <a:pt x="0" y="10890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5675" r="0" b="-78427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62177" y="3696078"/>
            <a:ext cx="10353383" cy="2894844"/>
            <a:chOff x="0" y="0"/>
            <a:chExt cx="13804511" cy="3859791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3245015" cy="3859791"/>
              <a:chOff x="0" y="0"/>
              <a:chExt cx="2616299" cy="76242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616299" cy="762428"/>
              </a:xfrm>
              <a:custGeom>
                <a:avLst/>
                <a:gdLst/>
                <a:ahLst/>
                <a:cxnLst/>
                <a:rect r="r" b="b" t="t" l="l"/>
                <a:pathLst>
                  <a:path h="762428" w="2616299">
                    <a:moveTo>
                      <a:pt x="15587" y="0"/>
                    </a:moveTo>
                    <a:lnTo>
                      <a:pt x="2600712" y="0"/>
                    </a:lnTo>
                    <a:cubicBezTo>
                      <a:pt x="2609321" y="0"/>
                      <a:pt x="2616299" y="6979"/>
                      <a:pt x="2616299" y="15587"/>
                    </a:cubicBezTo>
                    <a:lnTo>
                      <a:pt x="2616299" y="746841"/>
                    </a:lnTo>
                    <a:cubicBezTo>
                      <a:pt x="2616299" y="755449"/>
                      <a:pt x="2609321" y="762428"/>
                      <a:pt x="2600712" y="762428"/>
                    </a:cubicBezTo>
                    <a:lnTo>
                      <a:pt x="15587" y="762428"/>
                    </a:lnTo>
                    <a:cubicBezTo>
                      <a:pt x="6979" y="762428"/>
                      <a:pt x="0" y="755449"/>
                      <a:pt x="0" y="746841"/>
                    </a:cubicBezTo>
                    <a:lnTo>
                      <a:pt x="0" y="15587"/>
                    </a:lnTo>
                    <a:cubicBezTo>
                      <a:pt x="0" y="6979"/>
                      <a:pt x="6979" y="0"/>
                      <a:pt x="1558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EEEEEE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28575"/>
                <a:ext cx="2616299" cy="7910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356413" y="236895"/>
              <a:ext cx="13448098" cy="31164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502"/>
                </a:lnSpc>
              </a:pPr>
              <a:r>
                <a:rPr lang="en-US" sz="6787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Car Maintenance  </a:t>
              </a:r>
            </a:p>
            <a:p>
              <a:pPr algn="l">
                <a:lnSpc>
                  <a:spcPts val="9502"/>
                </a:lnSpc>
                <a:spcBef>
                  <a:spcPct val="0"/>
                </a:spcBef>
              </a:pPr>
              <a:r>
                <a:rPr lang="en-US" sz="6787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         Tracking system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764115" y="485775"/>
            <a:ext cx="577521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true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King Saud University</a:t>
            </a:r>
          </a:p>
          <a:p>
            <a:pPr algn="ctr">
              <a:lnSpc>
                <a:spcPts val="2100"/>
              </a:lnSpc>
            </a:pPr>
            <a:r>
              <a:rPr lang="en-US" sz="1500" b="true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Software Engineering Department</a:t>
            </a:r>
          </a:p>
          <a:p>
            <a:pPr algn="ctr">
              <a:lnSpc>
                <a:spcPts val="2100"/>
              </a:lnSpc>
            </a:pPr>
            <a:r>
              <a:rPr lang="en-US" sz="1500" b="true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SWE 485 –  Selected Topics in Software Engineering </a:t>
            </a:r>
            <a:r>
              <a:rPr lang="en-US" sz="1500" b="true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</a:p>
          <a:p>
            <a:pPr algn="ctr">
              <a:lnSpc>
                <a:spcPts val="210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715561" y="4020560"/>
            <a:ext cx="5240717" cy="4383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5"/>
              </a:lnSpc>
            </a:pPr>
            <a:r>
              <a:rPr lang="en-US" sz="2503" b="true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Sara Alshuwaier            444200957</a:t>
            </a:r>
          </a:p>
          <a:p>
            <a:pPr algn="l">
              <a:lnSpc>
                <a:spcPts val="3505"/>
              </a:lnSpc>
            </a:pPr>
            <a:r>
              <a:rPr lang="en-US" sz="2503" b="true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Reema Almunasser      444201088</a:t>
            </a:r>
          </a:p>
          <a:p>
            <a:pPr algn="l">
              <a:lnSpc>
                <a:spcPts val="3505"/>
              </a:lnSpc>
            </a:pPr>
            <a:r>
              <a:rPr lang="en-US" sz="2503" b="true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Sadeem Alsayari           444201182</a:t>
            </a:r>
          </a:p>
          <a:p>
            <a:pPr algn="l">
              <a:lnSpc>
                <a:spcPts val="3505"/>
              </a:lnSpc>
            </a:pPr>
            <a:r>
              <a:rPr lang="en-US" sz="2503" b="true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Leen Alohali                   444200882</a:t>
            </a:r>
          </a:p>
          <a:p>
            <a:pPr algn="l">
              <a:lnSpc>
                <a:spcPts val="3505"/>
              </a:lnSpc>
              <a:spcBef>
                <a:spcPct val="0"/>
              </a:spcBef>
            </a:pPr>
            <a:r>
              <a:rPr lang="en-US" sz="2503" b="true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Noof Alkhalifa               444200886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1103" y="9404141"/>
            <a:ext cx="4436416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1ts Seme</a:t>
            </a:r>
            <a:r>
              <a:rPr lang="en-US" sz="2400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ster | Fall 2025-2026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4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296827"/>
            <a:ext cx="10023602" cy="6961473"/>
            <a:chOff x="0" y="0"/>
            <a:chExt cx="2639961" cy="18334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39961" cy="1833475"/>
            </a:xfrm>
            <a:custGeom>
              <a:avLst/>
              <a:gdLst/>
              <a:ahLst/>
              <a:cxnLst/>
              <a:rect r="r" b="b" t="t" l="l"/>
              <a:pathLst>
                <a:path h="1833475" w="2639961">
                  <a:moveTo>
                    <a:pt x="15447" y="0"/>
                  </a:moveTo>
                  <a:lnTo>
                    <a:pt x="2624514" y="0"/>
                  </a:lnTo>
                  <a:cubicBezTo>
                    <a:pt x="2633045" y="0"/>
                    <a:pt x="2639961" y="6916"/>
                    <a:pt x="2639961" y="15447"/>
                  </a:cubicBezTo>
                  <a:lnTo>
                    <a:pt x="2639961" y="1818027"/>
                  </a:lnTo>
                  <a:cubicBezTo>
                    <a:pt x="2639961" y="1822124"/>
                    <a:pt x="2638334" y="1826053"/>
                    <a:pt x="2635437" y="1828950"/>
                  </a:cubicBezTo>
                  <a:cubicBezTo>
                    <a:pt x="2632540" y="1831847"/>
                    <a:pt x="2628610" y="1833475"/>
                    <a:pt x="2624514" y="1833475"/>
                  </a:cubicBezTo>
                  <a:lnTo>
                    <a:pt x="15447" y="1833475"/>
                  </a:lnTo>
                  <a:cubicBezTo>
                    <a:pt x="11350" y="1833475"/>
                    <a:pt x="7421" y="1831847"/>
                    <a:pt x="4524" y="1828950"/>
                  </a:cubicBezTo>
                  <a:cubicBezTo>
                    <a:pt x="1627" y="1826053"/>
                    <a:pt x="0" y="1822124"/>
                    <a:pt x="0" y="1818027"/>
                  </a:cubicBezTo>
                  <a:lnTo>
                    <a:pt x="0" y="15447"/>
                  </a:lnTo>
                  <a:cubicBezTo>
                    <a:pt x="0" y="11350"/>
                    <a:pt x="1627" y="7421"/>
                    <a:pt x="4524" y="4524"/>
                  </a:cubicBezTo>
                  <a:cubicBezTo>
                    <a:pt x="7421" y="1627"/>
                    <a:pt x="11350" y="0"/>
                    <a:pt x="15447" y="0"/>
                  </a:cubicBezTo>
                  <a:close/>
                </a:path>
              </a:pathLst>
            </a:custGeom>
            <a:solidFill>
              <a:srgbClr val="364C5D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639961" cy="1862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593948" y="2296827"/>
            <a:ext cx="7924121" cy="6961473"/>
            <a:chOff x="0" y="0"/>
            <a:chExt cx="2087011" cy="18334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87011" cy="1833475"/>
            </a:xfrm>
            <a:custGeom>
              <a:avLst/>
              <a:gdLst/>
              <a:ahLst/>
              <a:cxnLst/>
              <a:rect r="r" b="b" t="t" l="l"/>
              <a:pathLst>
                <a:path h="1833475" w="2087011">
                  <a:moveTo>
                    <a:pt x="19540" y="0"/>
                  </a:moveTo>
                  <a:lnTo>
                    <a:pt x="2067471" y="0"/>
                  </a:lnTo>
                  <a:cubicBezTo>
                    <a:pt x="2072653" y="0"/>
                    <a:pt x="2077624" y="2059"/>
                    <a:pt x="2081288" y="5723"/>
                  </a:cubicBezTo>
                  <a:cubicBezTo>
                    <a:pt x="2084953" y="9388"/>
                    <a:pt x="2087011" y="14358"/>
                    <a:pt x="2087011" y="19540"/>
                  </a:cubicBezTo>
                  <a:lnTo>
                    <a:pt x="2087011" y="1813934"/>
                  </a:lnTo>
                  <a:cubicBezTo>
                    <a:pt x="2087011" y="1819117"/>
                    <a:pt x="2084953" y="1824087"/>
                    <a:pt x="2081288" y="1827751"/>
                  </a:cubicBezTo>
                  <a:cubicBezTo>
                    <a:pt x="2077624" y="1831416"/>
                    <a:pt x="2072653" y="1833475"/>
                    <a:pt x="2067471" y="1833475"/>
                  </a:cubicBezTo>
                  <a:lnTo>
                    <a:pt x="19540" y="1833475"/>
                  </a:lnTo>
                  <a:cubicBezTo>
                    <a:pt x="14358" y="1833475"/>
                    <a:pt x="9388" y="1831416"/>
                    <a:pt x="5723" y="1827751"/>
                  </a:cubicBezTo>
                  <a:cubicBezTo>
                    <a:pt x="2059" y="1824087"/>
                    <a:pt x="0" y="1819117"/>
                    <a:pt x="0" y="1813934"/>
                  </a:cubicBezTo>
                  <a:lnTo>
                    <a:pt x="0" y="19540"/>
                  </a:lnTo>
                  <a:cubicBezTo>
                    <a:pt x="0" y="14358"/>
                    <a:pt x="2059" y="9388"/>
                    <a:pt x="5723" y="5723"/>
                  </a:cubicBezTo>
                  <a:cubicBezTo>
                    <a:pt x="9388" y="2059"/>
                    <a:pt x="14358" y="0"/>
                    <a:pt x="19540" y="0"/>
                  </a:cubicBezTo>
                  <a:close/>
                </a:path>
              </a:pathLst>
            </a:custGeom>
            <a:solidFill>
              <a:srgbClr val="66879A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087011" cy="1862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052302" y="2815880"/>
            <a:ext cx="7465767" cy="5923367"/>
            <a:chOff x="0" y="0"/>
            <a:chExt cx="1156643" cy="9176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56643" cy="917684"/>
            </a:xfrm>
            <a:custGeom>
              <a:avLst/>
              <a:gdLst/>
              <a:ahLst/>
              <a:cxnLst/>
              <a:rect r="r" b="b" t="t" l="l"/>
              <a:pathLst>
                <a:path h="917684" w="1156643">
                  <a:moveTo>
                    <a:pt x="20740" y="0"/>
                  </a:moveTo>
                  <a:lnTo>
                    <a:pt x="1135903" y="0"/>
                  </a:lnTo>
                  <a:cubicBezTo>
                    <a:pt x="1147357" y="0"/>
                    <a:pt x="1156643" y="9286"/>
                    <a:pt x="1156643" y="20740"/>
                  </a:cubicBezTo>
                  <a:lnTo>
                    <a:pt x="1156643" y="896945"/>
                  </a:lnTo>
                  <a:cubicBezTo>
                    <a:pt x="1156643" y="902445"/>
                    <a:pt x="1154458" y="907720"/>
                    <a:pt x="1150568" y="911610"/>
                  </a:cubicBezTo>
                  <a:cubicBezTo>
                    <a:pt x="1146679" y="915499"/>
                    <a:pt x="1141403" y="917684"/>
                    <a:pt x="1135903" y="917684"/>
                  </a:cubicBezTo>
                  <a:lnTo>
                    <a:pt x="20740" y="917684"/>
                  </a:lnTo>
                  <a:cubicBezTo>
                    <a:pt x="9286" y="917684"/>
                    <a:pt x="0" y="908399"/>
                    <a:pt x="0" y="896945"/>
                  </a:cubicBezTo>
                  <a:lnTo>
                    <a:pt x="0" y="20740"/>
                  </a:lnTo>
                  <a:cubicBezTo>
                    <a:pt x="0" y="9286"/>
                    <a:pt x="9286" y="0"/>
                    <a:pt x="20740" y="0"/>
                  </a:cubicBezTo>
                  <a:close/>
                </a:path>
              </a:pathLst>
            </a:custGeom>
            <a:blipFill>
              <a:blip r:embed="rId2"/>
              <a:stretch>
                <a:fillRect l="-67590" t="-41797" r="-20523" b="-95298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356277" y="5777563"/>
            <a:ext cx="404962" cy="404962"/>
          </a:xfrm>
          <a:custGeom>
            <a:avLst/>
            <a:gdLst/>
            <a:ahLst/>
            <a:cxnLst/>
            <a:rect r="r" b="b" t="t" l="l"/>
            <a:pathLst>
              <a:path h="404962" w="404962">
                <a:moveTo>
                  <a:pt x="0" y="0"/>
                </a:moveTo>
                <a:lnTo>
                  <a:pt x="404962" y="0"/>
                </a:lnTo>
                <a:lnTo>
                  <a:pt x="404962" y="404962"/>
                </a:lnTo>
                <a:lnTo>
                  <a:pt x="0" y="4049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62177" y="199455"/>
            <a:ext cx="17693715" cy="1089073"/>
            <a:chOff x="0" y="0"/>
            <a:chExt cx="23591620" cy="1452098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22889702" y="40618"/>
              <a:ext cx="701918" cy="5122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00"/>
                </a:lnSpc>
                <a:spcBef>
                  <a:spcPct val="0"/>
                </a:spcBef>
              </a:pPr>
              <a:r>
                <a:rPr lang="en-US" sz="2286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01</a:t>
              </a:r>
            </a:p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89819" cy="1452098"/>
            </a:xfrm>
            <a:custGeom>
              <a:avLst/>
              <a:gdLst/>
              <a:ahLst/>
              <a:cxnLst/>
              <a:rect r="r" b="b" t="t" l="l"/>
              <a:pathLst>
                <a:path h="1452098" w="3689819">
                  <a:moveTo>
                    <a:pt x="0" y="0"/>
                  </a:moveTo>
                  <a:lnTo>
                    <a:pt x="3689819" y="0"/>
                  </a:lnTo>
                  <a:lnTo>
                    <a:pt x="3689819" y="1452098"/>
                  </a:lnTo>
                  <a:lnTo>
                    <a:pt x="0" y="14520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75675" r="0" b="-78427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356277" y="6696875"/>
            <a:ext cx="404962" cy="404962"/>
          </a:xfrm>
          <a:custGeom>
            <a:avLst/>
            <a:gdLst/>
            <a:ahLst/>
            <a:cxnLst/>
            <a:rect r="r" b="b" t="t" l="l"/>
            <a:pathLst>
              <a:path h="404962" w="404962">
                <a:moveTo>
                  <a:pt x="0" y="0"/>
                </a:moveTo>
                <a:lnTo>
                  <a:pt x="404962" y="0"/>
                </a:lnTo>
                <a:lnTo>
                  <a:pt x="404962" y="404962"/>
                </a:lnTo>
                <a:lnTo>
                  <a:pt x="0" y="4049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56277" y="7616187"/>
            <a:ext cx="404962" cy="404962"/>
          </a:xfrm>
          <a:custGeom>
            <a:avLst/>
            <a:gdLst/>
            <a:ahLst/>
            <a:cxnLst/>
            <a:rect r="r" b="b" t="t" l="l"/>
            <a:pathLst>
              <a:path h="404962" w="404962">
                <a:moveTo>
                  <a:pt x="0" y="0"/>
                </a:moveTo>
                <a:lnTo>
                  <a:pt x="404962" y="0"/>
                </a:lnTo>
                <a:lnTo>
                  <a:pt x="404962" y="404962"/>
                </a:lnTo>
                <a:lnTo>
                  <a:pt x="0" y="4049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49304" y="2692055"/>
            <a:ext cx="9148891" cy="109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09"/>
              </a:lnSpc>
              <a:spcBef>
                <a:spcPct val="0"/>
              </a:spcBef>
            </a:pPr>
            <a:r>
              <a:rPr lang="en-US" sz="636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 Statement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56277" y="4238597"/>
            <a:ext cx="7875324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Lack of maintenance reminders and</a:t>
            </a:r>
            <a:r>
              <a:rPr lang="en-US" sz="2799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tracking causes delayed servicing, leading to: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79706" y="5729938"/>
            <a:ext cx="5093161" cy="9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Unexpected car breakdowns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79706" y="6646542"/>
            <a:ext cx="5093161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Increased repair costs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79706" y="7568562"/>
            <a:ext cx="5940488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Reduced vehicle lifespan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4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529454" y="218012"/>
            <a:ext cx="526438" cy="396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  <a:spcBef>
                <a:spcPct val="0"/>
              </a:spcBef>
            </a:pPr>
            <a:r>
              <a:rPr lang="en-US" sz="2286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02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362177" y="199455"/>
            <a:ext cx="2767364" cy="1089073"/>
          </a:xfrm>
          <a:custGeom>
            <a:avLst/>
            <a:gdLst/>
            <a:ahLst/>
            <a:cxnLst/>
            <a:rect r="r" b="b" t="t" l="l"/>
            <a:pathLst>
              <a:path h="1089073" w="2767364">
                <a:moveTo>
                  <a:pt x="0" y="0"/>
                </a:moveTo>
                <a:lnTo>
                  <a:pt x="2767365" y="0"/>
                </a:lnTo>
                <a:lnTo>
                  <a:pt x="2767365" y="1089073"/>
                </a:lnTo>
                <a:lnTo>
                  <a:pt x="0" y="1089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675" r="0" b="-78427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453219" y="2778473"/>
            <a:ext cx="7806081" cy="1005265"/>
            <a:chOff x="0" y="0"/>
            <a:chExt cx="2055922" cy="2647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55922" cy="264761"/>
            </a:xfrm>
            <a:custGeom>
              <a:avLst/>
              <a:gdLst/>
              <a:ahLst/>
              <a:cxnLst/>
              <a:rect r="r" b="b" t="t" l="l"/>
              <a:pathLst>
                <a:path h="264761" w="2055922">
                  <a:moveTo>
                    <a:pt x="19836" y="0"/>
                  </a:moveTo>
                  <a:lnTo>
                    <a:pt x="2036087" y="0"/>
                  </a:lnTo>
                  <a:cubicBezTo>
                    <a:pt x="2047042" y="0"/>
                    <a:pt x="2055922" y="8881"/>
                    <a:pt x="2055922" y="19836"/>
                  </a:cubicBezTo>
                  <a:lnTo>
                    <a:pt x="2055922" y="244926"/>
                  </a:lnTo>
                  <a:cubicBezTo>
                    <a:pt x="2055922" y="255881"/>
                    <a:pt x="2047042" y="264761"/>
                    <a:pt x="2036087" y="264761"/>
                  </a:cubicBezTo>
                  <a:lnTo>
                    <a:pt x="19836" y="264761"/>
                  </a:lnTo>
                  <a:cubicBezTo>
                    <a:pt x="8881" y="264761"/>
                    <a:pt x="0" y="255881"/>
                    <a:pt x="0" y="244926"/>
                  </a:cubicBezTo>
                  <a:lnTo>
                    <a:pt x="0" y="19836"/>
                  </a:lnTo>
                  <a:cubicBezTo>
                    <a:pt x="0" y="8881"/>
                    <a:pt x="8881" y="0"/>
                    <a:pt x="19836" y="0"/>
                  </a:cubicBezTo>
                  <a:close/>
                </a:path>
              </a:pathLst>
            </a:custGeom>
            <a:solidFill>
              <a:srgbClr val="364C5D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055922" cy="293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4760674"/>
            <a:ext cx="6165976" cy="4312424"/>
            <a:chOff x="0" y="0"/>
            <a:chExt cx="850147" cy="5945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50147" cy="594584"/>
            </a:xfrm>
            <a:custGeom>
              <a:avLst/>
              <a:gdLst/>
              <a:ahLst/>
              <a:cxnLst/>
              <a:rect r="r" b="b" t="t" l="l"/>
              <a:pathLst>
                <a:path h="594584" w="850147">
                  <a:moveTo>
                    <a:pt x="25112" y="0"/>
                  </a:moveTo>
                  <a:lnTo>
                    <a:pt x="825035" y="0"/>
                  </a:lnTo>
                  <a:cubicBezTo>
                    <a:pt x="831695" y="0"/>
                    <a:pt x="838082" y="2646"/>
                    <a:pt x="842792" y="7355"/>
                  </a:cubicBezTo>
                  <a:cubicBezTo>
                    <a:pt x="847501" y="12064"/>
                    <a:pt x="850147" y="18452"/>
                    <a:pt x="850147" y="25112"/>
                  </a:cubicBezTo>
                  <a:lnTo>
                    <a:pt x="850147" y="569473"/>
                  </a:lnTo>
                  <a:cubicBezTo>
                    <a:pt x="850147" y="576133"/>
                    <a:pt x="847501" y="582520"/>
                    <a:pt x="842792" y="587229"/>
                  </a:cubicBezTo>
                  <a:cubicBezTo>
                    <a:pt x="838082" y="591939"/>
                    <a:pt x="831695" y="594584"/>
                    <a:pt x="825035" y="594584"/>
                  </a:cubicBezTo>
                  <a:lnTo>
                    <a:pt x="25112" y="594584"/>
                  </a:lnTo>
                  <a:cubicBezTo>
                    <a:pt x="18452" y="594584"/>
                    <a:pt x="12064" y="591939"/>
                    <a:pt x="7355" y="587229"/>
                  </a:cubicBezTo>
                  <a:cubicBezTo>
                    <a:pt x="2646" y="582520"/>
                    <a:pt x="0" y="576133"/>
                    <a:pt x="0" y="569473"/>
                  </a:cubicBezTo>
                  <a:lnTo>
                    <a:pt x="0" y="25112"/>
                  </a:lnTo>
                  <a:cubicBezTo>
                    <a:pt x="0" y="18452"/>
                    <a:pt x="2646" y="12064"/>
                    <a:pt x="7355" y="7355"/>
                  </a:cubicBezTo>
                  <a:cubicBezTo>
                    <a:pt x="12064" y="2646"/>
                    <a:pt x="18452" y="0"/>
                    <a:pt x="25112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1490" r="0" b="-2149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453219" y="7292527"/>
            <a:ext cx="7806081" cy="1683384"/>
            <a:chOff x="0" y="0"/>
            <a:chExt cx="2055922" cy="443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55922" cy="443360"/>
            </a:xfrm>
            <a:custGeom>
              <a:avLst/>
              <a:gdLst/>
              <a:ahLst/>
              <a:cxnLst/>
              <a:rect r="r" b="b" t="t" l="l"/>
              <a:pathLst>
                <a:path h="443360" w="2055922">
                  <a:moveTo>
                    <a:pt x="19836" y="0"/>
                  </a:moveTo>
                  <a:lnTo>
                    <a:pt x="2036087" y="0"/>
                  </a:lnTo>
                  <a:cubicBezTo>
                    <a:pt x="2047042" y="0"/>
                    <a:pt x="2055922" y="8881"/>
                    <a:pt x="2055922" y="19836"/>
                  </a:cubicBezTo>
                  <a:lnTo>
                    <a:pt x="2055922" y="423525"/>
                  </a:lnTo>
                  <a:cubicBezTo>
                    <a:pt x="2055922" y="428785"/>
                    <a:pt x="2053833" y="433831"/>
                    <a:pt x="2050113" y="437551"/>
                  </a:cubicBezTo>
                  <a:cubicBezTo>
                    <a:pt x="2046393" y="441270"/>
                    <a:pt x="2041347" y="443360"/>
                    <a:pt x="2036087" y="443360"/>
                  </a:cubicBezTo>
                  <a:lnTo>
                    <a:pt x="19836" y="443360"/>
                  </a:lnTo>
                  <a:cubicBezTo>
                    <a:pt x="8881" y="443360"/>
                    <a:pt x="0" y="434480"/>
                    <a:pt x="0" y="423525"/>
                  </a:cubicBezTo>
                  <a:lnTo>
                    <a:pt x="0" y="19836"/>
                  </a:lnTo>
                  <a:cubicBezTo>
                    <a:pt x="0" y="8881"/>
                    <a:pt x="8881" y="0"/>
                    <a:pt x="19836" y="0"/>
                  </a:cubicBezTo>
                  <a:close/>
                </a:path>
              </a:pathLst>
            </a:custGeom>
            <a:solidFill>
              <a:srgbClr val="364C5D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2055922" cy="471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2597498"/>
            <a:ext cx="7509001" cy="1662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33"/>
              </a:lnSpc>
              <a:spcBef>
                <a:spcPct val="0"/>
              </a:spcBef>
            </a:pPr>
            <a:r>
              <a:rPr lang="en-US" sz="9738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Objectives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17841" y="3068711"/>
            <a:ext cx="7276838" cy="76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7"/>
              </a:lnSpc>
              <a:spcBef>
                <a:spcPct val="0"/>
              </a:spcBef>
            </a:pPr>
            <a:r>
              <a:rPr lang="en-US" b="true" sz="2162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</a:t>
            </a:r>
            <a:r>
              <a:rPr lang="en-US" b="true" sz="2162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mplify and automate vehicle maintenance tracking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57620" y="7959854"/>
            <a:ext cx="2355931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</a:t>
            </a:r>
            <a:r>
              <a:rPr lang="en-US" sz="1500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aintenance history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Vehicle condition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Environmental factors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293917" y="8033164"/>
            <a:ext cx="717266" cy="717266"/>
          </a:xfrm>
          <a:custGeom>
            <a:avLst/>
            <a:gdLst/>
            <a:ahLst/>
            <a:cxnLst/>
            <a:rect r="r" b="b" t="t" l="l"/>
            <a:pathLst>
              <a:path h="717266" w="717266">
                <a:moveTo>
                  <a:pt x="0" y="0"/>
                </a:moveTo>
                <a:lnTo>
                  <a:pt x="717265" y="0"/>
                </a:lnTo>
                <a:lnTo>
                  <a:pt x="717265" y="717265"/>
                </a:lnTo>
                <a:lnTo>
                  <a:pt x="0" y="7172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9453219" y="4233811"/>
            <a:ext cx="7806081" cy="1005265"/>
            <a:chOff x="0" y="0"/>
            <a:chExt cx="2055922" cy="26476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55922" cy="264761"/>
            </a:xfrm>
            <a:custGeom>
              <a:avLst/>
              <a:gdLst/>
              <a:ahLst/>
              <a:cxnLst/>
              <a:rect r="r" b="b" t="t" l="l"/>
              <a:pathLst>
                <a:path h="264761" w="2055922">
                  <a:moveTo>
                    <a:pt x="19836" y="0"/>
                  </a:moveTo>
                  <a:lnTo>
                    <a:pt x="2036087" y="0"/>
                  </a:lnTo>
                  <a:cubicBezTo>
                    <a:pt x="2047042" y="0"/>
                    <a:pt x="2055922" y="8881"/>
                    <a:pt x="2055922" y="19836"/>
                  </a:cubicBezTo>
                  <a:lnTo>
                    <a:pt x="2055922" y="244926"/>
                  </a:lnTo>
                  <a:cubicBezTo>
                    <a:pt x="2055922" y="255881"/>
                    <a:pt x="2047042" y="264761"/>
                    <a:pt x="2036087" y="264761"/>
                  </a:cubicBezTo>
                  <a:lnTo>
                    <a:pt x="19836" y="264761"/>
                  </a:lnTo>
                  <a:cubicBezTo>
                    <a:pt x="8881" y="264761"/>
                    <a:pt x="0" y="255881"/>
                    <a:pt x="0" y="244926"/>
                  </a:cubicBezTo>
                  <a:lnTo>
                    <a:pt x="0" y="19836"/>
                  </a:lnTo>
                  <a:cubicBezTo>
                    <a:pt x="0" y="8881"/>
                    <a:pt x="8881" y="0"/>
                    <a:pt x="19836" y="0"/>
                  </a:cubicBezTo>
                  <a:close/>
                </a:path>
              </a:pathLst>
            </a:custGeom>
            <a:solidFill>
              <a:srgbClr val="364C5D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2055922" cy="293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717841" y="4524049"/>
            <a:ext cx="5391422" cy="76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7"/>
              </a:lnSpc>
              <a:spcBef>
                <a:spcPct val="0"/>
              </a:spcBef>
            </a:pPr>
            <a:r>
              <a:rPr lang="en-US" b="true" sz="2162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</a:t>
            </a:r>
            <a:r>
              <a:rPr lang="en-US" b="true" sz="2162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dict maintenance needs in advance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453219" y="5686751"/>
            <a:ext cx="7806081" cy="1005265"/>
            <a:chOff x="0" y="0"/>
            <a:chExt cx="2055922" cy="26476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55922" cy="264761"/>
            </a:xfrm>
            <a:custGeom>
              <a:avLst/>
              <a:gdLst/>
              <a:ahLst/>
              <a:cxnLst/>
              <a:rect r="r" b="b" t="t" l="l"/>
              <a:pathLst>
                <a:path h="264761" w="2055922">
                  <a:moveTo>
                    <a:pt x="19836" y="0"/>
                  </a:moveTo>
                  <a:lnTo>
                    <a:pt x="2036087" y="0"/>
                  </a:lnTo>
                  <a:cubicBezTo>
                    <a:pt x="2047042" y="0"/>
                    <a:pt x="2055922" y="8881"/>
                    <a:pt x="2055922" y="19836"/>
                  </a:cubicBezTo>
                  <a:lnTo>
                    <a:pt x="2055922" y="244926"/>
                  </a:lnTo>
                  <a:cubicBezTo>
                    <a:pt x="2055922" y="255881"/>
                    <a:pt x="2047042" y="264761"/>
                    <a:pt x="2036087" y="264761"/>
                  </a:cubicBezTo>
                  <a:lnTo>
                    <a:pt x="19836" y="264761"/>
                  </a:lnTo>
                  <a:cubicBezTo>
                    <a:pt x="8881" y="264761"/>
                    <a:pt x="0" y="255881"/>
                    <a:pt x="0" y="244926"/>
                  </a:cubicBezTo>
                  <a:lnTo>
                    <a:pt x="0" y="19836"/>
                  </a:lnTo>
                  <a:cubicBezTo>
                    <a:pt x="0" y="8881"/>
                    <a:pt x="8881" y="0"/>
                    <a:pt x="19836" y="0"/>
                  </a:cubicBezTo>
                  <a:close/>
                </a:path>
              </a:pathLst>
            </a:custGeom>
            <a:solidFill>
              <a:srgbClr val="364C5D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2055922" cy="293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717841" y="5982026"/>
            <a:ext cx="7541459" cy="377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7"/>
              </a:lnSpc>
              <a:spcBef>
                <a:spcPct val="0"/>
              </a:spcBef>
            </a:pPr>
            <a:r>
              <a:rPr lang="en-US" b="true" sz="2162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Enable proa</a:t>
            </a:r>
            <a:r>
              <a:rPr lang="en-US" b="true" sz="2162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ctive rather than reactive maintenance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17841" y="7434966"/>
            <a:ext cx="7541459" cy="377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7"/>
              </a:lnSpc>
              <a:spcBef>
                <a:spcPct val="0"/>
              </a:spcBef>
            </a:pPr>
            <a:r>
              <a:rPr lang="en-US" b="true" sz="2162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Use da</a:t>
            </a:r>
            <a:r>
              <a:rPr lang="en-US" b="true" sz="2162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ta-driven insights to analyze: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9717841" y="7988429"/>
            <a:ext cx="221034" cy="221034"/>
          </a:xfrm>
          <a:custGeom>
            <a:avLst/>
            <a:gdLst/>
            <a:ahLst/>
            <a:cxnLst/>
            <a:rect r="r" b="b" t="t" l="l"/>
            <a:pathLst>
              <a:path h="221034" w="221034">
                <a:moveTo>
                  <a:pt x="0" y="0"/>
                </a:moveTo>
                <a:lnTo>
                  <a:pt x="221033" y="0"/>
                </a:lnTo>
                <a:lnTo>
                  <a:pt x="221033" y="221034"/>
                </a:lnTo>
                <a:lnTo>
                  <a:pt x="0" y="2210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717841" y="8281280"/>
            <a:ext cx="221034" cy="221034"/>
          </a:xfrm>
          <a:custGeom>
            <a:avLst/>
            <a:gdLst/>
            <a:ahLst/>
            <a:cxnLst/>
            <a:rect r="r" b="b" t="t" l="l"/>
            <a:pathLst>
              <a:path h="221034" w="221034">
                <a:moveTo>
                  <a:pt x="0" y="0"/>
                </a:moveTo>
                <a:lnTo>
                  <a:pt x="221033" y="0"/>
                </a:lnTo>
                <a:lnTo>
                  <a:pt x="221033" y="221034"/>
                </a:lnTo>
                <a:lnTo>
                  <a:pt x="0" y="2210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717841" y="8574130"/>
            <a:ext cx="221034" cy="221034"/>
          </a:xfrm>
          <a:custGeom>
            <a:avLst/>
            <a:gdLst/>
            <a:ahLst/>
            <a:cxnLst/>
            <a:rect r="r" b="b" t="t" l="l"/>
            <a:pathLst>
              <a:path h="221034" w="221034">
                <a:moveTo>
                  <a:pt x="0" y="0"/>
                </a:moveTo>
                <a:lnTo>
                  <a:pt x="221033" y="0"/>
                </a:lnTo>
                <a:lnTo>
                  <a:pt x="221033" y="221034"/>
                </a:lnTo>
                <a:lnTo>
                  <a:pt x="0" y="2210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4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42323" y="-143733"/>
            <a:ext cx="9720476" cy="10430733"/>
            <a:chOff x="0" y="0"/>
            <a:chExt cx="1312983" cy="1408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2983" cy="1408920"/>
            </a:xfrm>
            <a:custGeom>
              <a:avLst/>
              <a:gdLst/>
              <a:ahLst/>
              <a:cxnLst/>
              <a:rect r="r" b="b" t="t" l="l"/>
              <a:pathLst>
                <a:path h="1408920" w="1312983">
                  <a:moveTo>
                    <a:pt x="15929" y="0"/>
                  </a:moveTo>
                  <a:lnTo>
                    <a:pt x="1297054" y="0"/>
                  </a:lnTo>
                  <a:cubicBezTo>
                    <a:pt x="1301279" y="0"/>
                    <a:pt x="1305330" y="1678"/>
                    <a:pt x="1308317" y="4666"/>
                  </a:cubicBezTo>
                  <a:cubicBezTo>
                    <a:pt x="1311305" y="7653"/>
                    <a:pt x="1312983" y="11704"/>
                    <a:pt x="1312983" y="15929"/>
                  </a:cubicBezTo>
                  <a:lnTo>
                    <a:pt x="1312983" y="1392991"/>
                  </a:lnTo>
                  <a:cubicBezTo>
                    <a:pt x="1312983" y="1401788"/>
                    <a:pt x="1305851" y="1408920"/>
                    <a:pt x="1297054" y="1408920"/>
                  </a:cubicBezTo>
                  <a:lnTo>
                    <a:pt x="15929" y="1408920"/>
                  </a:lnTo>
                  <a:cubicBezTo>
                    <a:pt x="7132" y="1408920"/>
                    <a:pt x="0" y="1401788"/>
                    <a:pt x="0" y="1392991"/>
                  </a:cubicBezTo>
                  <a:lnTo>
                    <a:pt x="0" y="15929"/>
                  </a:lnTo>
                  <a:cubicBezTo>
                    <a:pt x="0" y="7132"/>
                    <a:pt x="7132" y="0"/>
                    <a:pt x="15929" y="0"/>
                  </a:cubicBezTo>
                  <a:close/>
                </a:path>
              </a:pathLst>
            </a:custGeom>
            <a:blipFill>
              <a:blip r:embed="rId2"/>
              <a:stretch>
                <a:fillRect l="-3653" t="0" r="-365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7529454" y="218012"/>
            <a:ext cx="526438" cy="396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  <a:spcBef>
                <a:spcPct val="0"/>
              </a:spcBef>
            </a:pPr>
            <a:r>
              <a:rPr lang="en-US" sz="2286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03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62177" y="199455"/>
            <a:ext cx="2767364" cy="1089073"/>
          </a:xfrm>
          <a:custGeom>
            <a:avLst/>
            <a:gdLst/>
            <a:ahLst/>
            <a:cxnLst/>
            <a:rect r="r" b="b" t="t" l="l"/>
            <a:pathLst>
              <a:path h="1089073" w="2767364">
                <a:moveTo>
                  <a:pt x="0" y="0"/>
                </a:moveTo>
                <a:lnTo>
                  <a:pt x="2767365" y="0"/>
                </a:lnTo>
                <a:lnTo>
                  <a:pt x="2767365" y="1089073"/>
                </a:lnTo>
                <a:lnTo>
                  <a:pt x="0" y="10890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5675" r="0" b="-78427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317200" y="743992"/>
            <a:ext cx="8688545" cy="1344735"/>
            <a:chOff x="0" y="0"/>
            <a:chExt cx="11584727" cy="1792981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1119272" cy="1792981"/>
              <a:chOff x="0" y="0"/>
              <a:chExt cx="2196399" cy="354169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196399" cy="354169"/>
              </a:xfrm>
              <a:custGeom>
                <a:avLst/>
                <a:gdLst/>
                <a:ahLst/>
                <a:cxnLst/>
                <a:rect r="r" b="b" t="t" l="l"/>
                <a:pathLst>
                  <a:path h="354169" w="2196399">
                    <a:moveTo>
                      <a:pt x="18567" y="0"/>
                    </a:moveTo>
                    <a:lnTo>
                      <a:pt x="2177832" y="0"/>
                    </a:lnTo>
                    <a:cubicBezTo>
                      <a:pt x="2188087" y="0"/>
                      <a:pt x="2196399" y="8313"/>
                      <a:pt x="2196399" y="18567"/>
                    </a:cubicBezTo>
                    <a:lnTo>
                      <a:pt x="2196399" y="335602"/>
                    </a:lnTo>
                    <a:cubicBezTo>
                      <a:pt x="2196399" y="345856"/>
                      <a:pt x="2188087" y="354169"/>
                      <a:pt x="2177832" y="354169"/>
                    </a:cubicBezTo>
                    <a:lnTo>
                      <a:pt x="18567" y="354169"/>
                    </a:lnTo>
                    <a:cubicBezTo>
                      <a:pt x="8313" y="354169"/>
                      <a:pt x="0" y="345856"/>
                      <a:pt x="0" y="335602"/>
                    </a:cubicBezTo>
                    <a:lnTo>
                      <a:pt x="0" y="18567"/>
                    </a:lnTo>
                    <a:cubicBezTo>
                      <a:pt x="0" y="8313"/>
                      <a:pt x="8313" y="0"/>
                      <a:pt x="18567" y="0"/>
                    </a:cubicBezTo>
                    <a:close/>
                  </a:path>
                </a:pathLst>
              </a:custGeom>
              <a:solidFill>
                <a:srgbClr val="364C5D"/>
              </a:solidFill>
              <a:ln w="19050" cap="sq">
                <a:solidFill>
                  <a:srgbClr val="EEEEEE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28575"/>
                <a:ext cx="2196399" cy="3827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205472" y="77005"/>
              <a:ext cx="11379254" cy="14983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27"/>
                </a:lnSpc>
              </a:pPr>
              <a:r>
                <a:rPr lang="en-US" sz="2162" b="true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User Value Proposition</a:t>
              </a:r>
            </a:p>
            <a:p>
              <a:pPr algn="l">
                <a:lnSpc>
                  <a:spcPts val="3027"/>
                </a:lnSpc>
                <a:spcBef>
                  <a:spcPct val="0"/>
                </a:spcBef>
              </a:pPr>
              <a:r>
                <a:rPr lang="en-US" sz="2162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Improves user experience through automated tracking and proactive maintenance reminders.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8141764" y="7943695"/>
            <a:ext cx="221034" cy="221034"/>
          </a:xfrm>
          <a:custGeom>
            <a:avLst/>
            <a:gdLst/>
            <a:ahLst/>
            <a:cxnLst/>
            <a:rect r="r" b="b" t="t" l="l"/>
            <a:pathLst>
              <a:path h="221034" w="221034">
                <a:moveTo>
                  <a:pt x="0" y="0"/>
                </a:moveTo>
                <a:lnTo>
                  <a:pt x="221034" y="0"/>
                </a:lnTo>
                <a:lnTo>
                  <a:pt x="221034" y="221034"/>
                </a:lnTo>
                <a:lnTo>
                  <a:pt x="0" y="2210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62177" y="7254776"/>
            <a:ext cx="8280145" cy="1436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34"/>
              </a:lnSpc>
              <a:spcBef>
                <a:spcPct val="0"/>
              </a:spcBef>
            </a:pPr>
            <a:r>
              <a:rPr lang="en-US" sz="8382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Business Value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317200" y="2713899"/>
            <a:ext cx="8339454" cy="1718758"/>
            <a:chOff x="0" y="0"/>
            <a:chExt cx="11119272" cy="2291677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1119272" cy="2291677"/>
              <a:chOff x="0" y="0"/>
              <a:chExt cx="2196399" cy="452677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196399" cy="452677"/>
              </a:xfrm>
              <a:custGeom>
                <a:avLst/>
                <a:gdLst/>
                <a:ahLst/>
                <a:cxnLst/>
                <a:rect r="r" b="b" t="t" l="l"/>
                <a:pathLst>
                  <a:path h="452677" w="2196399">
                    <a:moveTo>
                      <a:pt x="18567" y="0"/>
                    </a:moveTo>
                    <a:lnTo>
                      <a:pt x="2177832" y="0"/>
                    </a:lnTo>
                    <a:cubicBezTo>
                      <a:pt x="2188087" y="0"/>
                      <a:pt x="2196399" y="8313"/>
                      <a:pt x="2196399" y="18567"/>
                    </a:cubicBezTo>
                    <a:lnTo>
                      <a:pt x="2196399" y="434110"/>
                    </a:lnTo>
                    <a:cubicBezTo>
                      <a:pt x="2196399" y="444364"/>
                      <a:pt x="2188087" y="452677"/>
                      <a:pt x="2177832" y="452677"/>
                    </a:cubicBezTo>
                    <a:lnTo>
                      <a:pt x="18567" y="452677"/>
                    </a:lnTo>
                    <a:cubicBezTo>
                      <a:pt x="8313" y="452677"/>
                      <a:pt x="0" y="444364"/>
                      <a:pt x="0" y="434110"/>
                    </a:cubicBezTo>
                    <a:lnTo>
                      <a:pt x="0" y="18567"/>
                    </a:lnTo>
                    <a:cubicBezTo>
                      <a:pt x="0" y="8313"/>
                      <a:pt x="8313" y="0"/>
                      <a:pt x="18567" y="0"/>
                    </a:cubicBezTo>
                    <a:close/>
                  </a:path>
                </a:pathLst>
              </a:custGeom>
              <a:solidFill>
                <a:srgbClr val="364C5D"/>
              </a:solidFill>
              <a:ln w="19050" cap="sq">
                <a:solidFill>
                  <a:srgbClr val="EEEEEE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28575"/>
                <a:ext cx="2196399" cy="4812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200030" y="99463"/>
              <a:ext cx="10913799" cy="19609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71"/>
                </a:lnSpc>
              </a:pPr>
              <a:r>
                <a:rPr lang="en-US" sz="2122" b="true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Business &amp; ROI Potent</a:t>
              </a:r>
              <a:r>
                <a:rPr lang="en-US" sz="2122" b="true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ial</a:t>
              </a:r>
            </a:p>
            <a:p>
              <a:pPr algn="l">
                <a:lnSpc>
                  <a:spcPts val="2971"/>
                </a:lnSpc>
                <a:spcBef>
                  <a:spcPct val="0"/>
                </a:spcBef>
              </a:pPr>
              <a:r>
                <a:rPr lang="en-US" sz="2122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Supports cost savings, better resource planning, and long-term value through optimized maintenance scheduling.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17200" y="4687285"/>
            <a:ext cx="8339454" cy="1716210"/>
            <a:chOff x="0" y="0"/>
            <a:chExt cx="11119272" cy="2288281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11119272" cy="2288281"/>
              <a:chOff x="0" y="0"/>
              <a:chExt cx="2196399" cy="452006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196399" cy="452006"/>
              </a:xfrm>
              <a:custGeom>
                <a:avLst/>
                <a:gdLst/>
                <a:ahLst/>
                <a:cxnLst/>
                <a:rect r="r" b="b" t="t" l="l"/>
                <a:pathLst>
                  <a:path h="452006" w="2196399">
                    <a:moveTo>
                      <a:pt x="18567" y="0"/>
                    </a:moveTo>
                    <a:lnTo>
                      <a:pt x="2177832" y="0"/>
                    </a:lnTo>
                    <a:cubicBezTo>
                      <a:pt x="2188087" y="0"/>
                      <a:pt x="2196399" y="8313"/>
                      <a:pt x="2196399" y="18567"/>
                    </a:cubicBezTo>
                    <a:lnTo>
                      <a:pt x="2196399" y="433439"/>
                    </a:lnTo>
                    <a:cubicBezTo>
                      <a:pt x="2196399" y="443693"/>
                      <a:pt x="2188087" y="452006"/>
                      <a:pt x="2177832" y="452006"/>
                    </a:cubicBezTo>
                    <a:lnTo>
                      <a:pt x="18567" y="452006"/>
                    </a:lnTo>
                    <a:cubicBezTo>
                      <a:pt x="8313" y="452006"/>
                      <a:pt x="0" y="443693"/>
                      <a:pt x="0" y="433439"/>
                    </a:cubicBezTo>
                    <a:lnTo>
                      <a:pt x="0" y="18567"/>
                    </a:lnTo>
                    <a:cubicBezTo>
                      <a:pt x="0" y="8313"/>
                      <a:pt x="8313" y="0"/>
                      <a:pt x="18567" y="0"/>
                    </a:cubicBezTo>
                    <a:close/>
                  </a:path>
                </a:pathLst>
              </a:custGeom>
              <a:solidFill>
                <a:srgbClr val="364C5D"/>
              </a:solidFill>
              <a:ln w="19050" cap="sq">
                <a:solidFill>
                  <a:srgbClr val="EEEEEE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28575"/>
                <a:ext cx="2196399" cy="48058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08178" y="151385"/>
              <a:ext cx="10913799" cy="1947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71"/>
                </a:lnSpc>
              </a:pPr>
              <a:r>
                <a:rPr lang="en-US" sz="2122" b="true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Operat</a:t>
              </a:r>
              <a:r>
                <a:rPr lang="en-US" sz="2122" b="true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ional Impact</a:t>
              </a:r>
            </a:p>
            <a:p>
              <a:pPr algn="l">
                <a:lnSpc>
                  <a:spcPts val="2971"/>
                </a:lnSpc>
                <a:spcBef>
                  <a:spcPct val="0"/>
                </a:spcBef>
              </a:pPr>
              <a:r>
                <a:rPr lang="en-US" sz="2122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Reduces unexpected breakdowns by enabling early identification of maintenance needs through predictive insights.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317200" y="6598960"/>
            <a:ext cx="8416506" cy="1344735"/>
            <a:chOff x="0" y="0"/>
            <a:chExt cx="11222008" cy="1792981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11222008" cy="1792981"/>
              <a:chOff x="0" y="0"/>
              <a:chExt cx="2216693" cy="354169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216693" cy="354169"/>
              </a:xfrm>
              <a:custGeom>
                <a:avLst/>
                <a:gdLst/>
                <a:ahLst/>
                <a:cxnLst/>
                <a:rect r="r" b="b" t="t" l="l"/>
                <a:pathLst>
                  <a:path h="354169" w="2216693">
                    <a:moveTo>
                      <a:pt x="18397" y="0"/>
                    </a:moveTo>
                    <a:lnTo>
                      <a:pt x="2198296" y="0"/>
                    </a:lnTo>
                    <a:cubicBezTo>
                      <a:pt x="2203175" y="0"/>
                      <a:pt x="2207854" y="1938"/>
                      <a:pt x="2211304" y="5388"/>
                    </a:cubicBezTo>
                    <a:cubicBezTo>
                      <a:pt x="2214755" y="8838"/>
                      <a:pt x="2216693" y="13518"/>
                      <a:pt x="2216693" y="18397"/>
                    </a:cubicBezTo>
                    <a:lnTo>
                      <a:pt x="2216693" y="335772"/>
                    </a:lnTo>
                    <a:cubicBezTo>
                      <a:pt x="2216693" y="345932"/>
                      <a:pt x="2208456" y="354169"/>
                      <a:pt x="2198296" y="354169"/>
                    </a:cubicBezTo>
                    <a:lnTo>
                      <a:pt x="18397" y="354169"/>
                    </a:lnTo>
                    <a:cubicBezTo>
                      <a:pt x="8237" y="354169"/>
                      <a:pt x="0" y="345932"/>
                      <a:pt x="0" y="335772"/>
                    </a:cubicBezTo>
                    <a:lnTo>
                      <a:pt x="0" y="18397"/>
                    </a:lnTo>
                    <a:cubicBezTo>
                      <a:pt x="0" y="8237"/>
                      <a:pt x="8237" y="0"/>
                      <a:pt x="18397" y="0"/>
                    </a:cubicBezTo>
                    <a:close/>
                  </a:path>
                </a:pathLst>
              </a:custGeom>
              <a:solidFill>
                <a:srgbClr val="364C5D"/>
              </a:solidFill>
              <a:ln w="19050" cap="sq">
                <a:solidFill>
                  <a:srgbClr val="EEEEEE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28575"/>
                <a:ext cx="2216693" cy="3827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154104" y="151385"/>
              <a:ext cx="10913799" cy="14521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71"/>
                </a:lnSpc>
              </a:pPr>
              <a:r>
                <a:rPr lang="en-US" sz="2122" b="true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Cost Eff</a:t>
              </a:r>
              <a:r>
                <a:rPr lang="en-US" sz="2122" b="true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iciency</a:t>
              </a:r>
            </a:p>
            <a:p>
              <a:pPr algn="l">
                <a:lnSpc>
                  <a:spcPts val="2971"/>
                </a:lnSpc>
                <a:spcBef>
                  <a:spcPct val="0"/>
                </a:spcBef>
              </a:pPr>
              <a:r>
                <a:rPr lang="en-US" sz="2122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Helps lower maintenance and repair costs by preventing major failures and reducing emergency repairs.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317200" y="8515195"/>
            <a:ext cx="8416506" cy="1344735"/>
            <a:chOff x="0" y="0"/>
            <a:chExt cx="11222008" cy="1792981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11222008" cy="1792981"/>
              <a:chOff x="0" y="0"/>
              <a:chExt cx="2216693" cy="354169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2216693" cy="354169"/>
              </a:xfrm>
              <a:custGeom>
                <a:avLst/>
                <a:gdLst/>
                <a:ahLst/>
                <a:cxnLst/>
                <a:rect r="r" b="b" t="t" l="l"/>
                <a:pathLst>
                  <a:path h="354169" w="2216693">
                    <a:moveTo>
                      <a:pt x="18397" y="0"/>
                    </a:moveTo>
                    <a:lnTo>
                      <a:pt x="2198296" y="0"/>
                    </a:lnTo>
                    <a:cubicBezTo>
                      <a:pt x="2203175" y="0"/>
                      <a:pt x="2207854" y="1938"/>
                      <a:pt x="2211304" y="5388"/>
                    </a:cubicBezTo>
                    <a:cubicBezTo>
                      <a:pt x="2214755" y="8838"/>
                      <a:pt x="2216693" y="13518"/>
                      <a:pt x="2216693" y="18397"/>
                    </a:cubicBezTo>
                    <a:lnTo>
                      <a:pt x="2216693" y="335772"/>
                    </a:lnTo>
                    <a:cubicBezTo>
                      <a:pt x="2216693" y="345932"/>
                      <a:pt x="2208456" y="354169"/>
                      <a:pt x="2198296" y="354169"/>
                    </a:cubicBezTo>
                    <a:lnTo>
                      <a:pt x="18397" y="354169"/>
                    </a:lnTo>
                    <a:cubicBezTo>
                      <a:pt x="8237" y="354169"/>
                      <a:pt x="0" y="345932"/>
                      <a:pt x="0" y="335772"/>
                    </a:cubicBezTo>
                    <a:lnTo>
                      <a:pt x="0" y="18397"/>
                    </a:lnTo>
                    <a:cubicBezTo>
                      <a:pt x="0" y="8237"/>
                      <a:pt x="8237" y="0"/>
                      <a:pt x="18397" y="0"/>
                    </a:cubicBezTo>
                    <a:close/>
                  </a:path>
                </a:pathLst>
              </a:custGeom>
              <a:solidFill>
                <a:srgbClr val="364C5D"/>
              </a:solidFill>
              <a:ln w="19050" cap="sq">
                <a:solidFill>
                  <a:srgbClr val="EEEEEE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28575"/>
                <a:ext cx="2216693" cy="3827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154104" y="151385"/>
              <a:ext cx="10913799" cy="14521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71"/>
                </a:lnSpc>
              </a:pPr>
              <a:r>
                <a:rPr lang="en-US" sz="2122" b="true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Asset Value</a:t>
              </a:r>
            </a:p>
            <a:p>
              <a:pPr algn="l">
                <a:lnSpc>
                  <a:spcPts val="2971"/>
                </a:lnSpc>
                <a:spcBef>
                  <a:spcPct val="0"/>
                </a:spcBef>
              </a:pPr>
              <a:r>
                <a:rPr lang="en-US" sz="2122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Ext</a:t>
              </a:r>
              <a:r>
                <a:rPr lang="en-US" sz="2122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ends vehicle lifespan by supporting timely and data-driven maintenance decisions.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4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28851" y="2436364"/>
            <a:ext cx="2893979" cy="1548399"/>
            <a:chOff x="0" y="0"/>
            <a:chExt cx="762200" cy="4078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200" cy="407809"/>
            </a:xfrm>
            <a:custGeom>
              <a:avLst/>
              <a:gdLst/>
              <a:ahLst/>
              <a:cxnLst/>
              <a:rect r="r" b="b" t="t" l="l"/>
              <a:pathLst>
                <a:path h="407809" w="762200">
                  <a:moveTo>
                    <a:pt x="53504" y="0"/>
                  </a:moveTo>
                  <a:lnTo>
                    <a:pt x="708697" y="0"/>
                  </a:lnTo>
                  <a:cubicBezTo>
                    <a:pt x="738246" y="0"/>
                    <a:pt x="762200" y="23954"/>
                    <a:pt x="762200" y="53504"/>
                  </a:cubicBezTo>
                  <a:lnTo>
                    <a:pt x="762200" y="354305"/>
                  </a:lnTo>
                  <a:cubicBezTo>
                    <a:pt x="762200" y="383854"/>
                    <a:pt x="738246" y="407809"/>
                    <a:pt x="708697" y="407809"/>
                  </a:cubicBezTo>
                  <a:lnTo>
                    <a:pt x="53504" y="407809"/>
                  </a:lnTo>
                  <a:cubicBezTo>
                    <a:pt x="23954" y="407809"/>
                    <a:pt x="0" y="383854"/>
                    <a:pt x="0" y="354305"/>
                  </a:cubicBezTo>
                  <a:lnTo>
                    <a:pt x="0" y="53504"/>
                  </a:lnTo>
                  <a:cubicBezTo>
                    <a:pt x="0" y="23954"/>
                    <a:pt x="23954" y="0"/>
                    <a:pt x="53504" y="0"/>
                  </a:cubicBezTo>
                  <a:close/>
                </a:path>
              </a:pathLst>
            </a:custGeom>
            <a:solidFill>
              <a:srgbClr val="364C5D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762200" cy="436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633742" y="2436364"/>
            <a:ext cx="6625558" cy="4953530"/>
            <a:chOff x="0" y="0"/>
            <a:chExt cx="1026472" cy="7674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26472" cy="767431"/>
            </a:xfrm>
            <a:custGeom>
              <a:avLst/>
              <a:gdLst/>
              <a:ahLst/>
              <a:cxnLst/>
              <a:rect r="r" b="b" t="t" l="l"/>
              <a:pathLst>
                <a:path h="767431" w="1026472">
                  <a:moveTo>
                    <a:pt x="23370" y="0"/>
                  </a:moveTo>
                  <a:lnTo>
                    <a:pt x="1003102" y="0"/>
                  </a:lnTo>
                  <a:cubicBezTo>
                    <a:pt x="1009301" y="0"/>
                    <a:pt x="1015245" y="2462"/>
                    <a:pt x="1019627" y="6845"/>
                  </a:cubicBezTo>
                  <a:cubicBezTo>
                    <a:pt x="1024010" y="11228"/>
                    <a:pt x="1026472" y="17172"/>
                    <a:pt x="1026472" y="23370"/>
                  </a:cubicBezTo>
                  <a:lnTo>
                    <a:pt x="1026472" y="744062"/>
                  </a:lnTo>
                  <a:cubicBezTo>
                    <a:pt x="1026472" y="750260"/>
                    <a:pt x="1024010" y="756204"/>
                    <a:pt x="1019627" y="760587"/>
                  </a:cubicBezTo>
                  <a:cubicBezTo>
                    <a:pt x="1015245" y="764969"/>
                    <a:pt x="1009301" y="767431"/>
                    <a:pt x="1003102" y="767431"/>
                  </a:cubicBezTo>
                  <a:lnTo>
                    <a:pt x="23370" y="767431"/>
                  </a:lnTo>
                  <a:cubicBezTo>
                    <a:pt x="17172" y="767431"/>
                    <a:pt x="11228" y="764969"/>
                    <a:pt x="6845" y="760587"/>
                  </a:cubicBezTo>
                  <a:cubicBezTo>
                    <a:pt x="2462" y="756204"/>
                    <a:pt x="0" y="750260"/>
                    <a:pt x="0" y="744062"/>
                  </a:cubicBezTo>
                  <a:lnTo>
                    <a:pt x="0" y="23370"/>
                  </a:lnTo>
                  <a:cubicBezTo>
                    <a:pt x="0" y="17172"/>
                    <a:pt x="2462" y="11228"/>
                    <a:pt x="6845" y="6845"/>
                  </a:cubicBezTo>
                  <a:cubicBezTo>
                    <a:pt x="11228" y="2462"/>
                    <a:pt x="17172" y="0"/>
                    <a:pt x="2337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3700" r="0" b="-1370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2420687"/>
            <a:ext cx="2893979" cy="1548399"/>
            <a:chOff x="0" y="0"/>
            <a:chExt cx="762200" cy="4078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62200" cy="407809"/>
            </a:xfrm>
            <a:custGeom>
              <a:avLst/>
              <a:gdLst/>
              <a:ahLst/>
              <a:cxnLst/>
              <a:rect r="r" b="b" t="t" l="l"/>
              <a:pathLst>
                <a:path h="407809" w="762200">
                  <a:moveTo>
                    <a:pt x="53504" y="0"/>
                  </a:moveTo>
                  <a:lnTo>
                    <a:pt x="708697" y="0"/>
                  </a:lnTo>
                  <a:cubicBezTo>
                    <a:pt x="738246" y="0"/>
                    <a:pt x="762200" y="23954"/>
                    <a:pt x="762200" y="53504"/>
                  </a:cubicBezTo>
                  <a:lnTo>
                    <a:pt x="762200" y="354305"/>
                  </a:lnTo>
                  <a:cubicBezTo>
                    <a:pt x="762200" y="383854"/>
                    <a:pt x="738246" y="407809"/>
                    <a:pt x="708697" y="407809"/>
                  </a:cubicBezTo>
                  <a:lnTo>
                    <a:pt x="53504" y="407809"/>
                  </a:lnTo>
                  <a:cubicBezTo>
                    <a:pt x="23954" y="407809"/>
                    <a:pt x="0" y="383854"/>
                    <a:pt x="0" y="354305"/>
                  </a:cubicBezTo>
                  <a:lnTo>
                    <a:pt x="0" y="53504"/>
                  </a:lnTo>
                  <a:cubicBezTo>
                    <a:pt x="0" y="23954"/>
                    <a:pt x="23954" y="0"/>
                    <a:pt x="53504" y="0"/>
                  </a:cubicBezTo>
                  <a:close/>
                </a:path>
              </a:pathLst>
            </a:custGeom>
            <a:solidFill>
              <a:srgbClr val="364C5D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762200" cy="436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078775" y="2436364"/>
            <a:ext cx="2893979" cy="1548399"/>
            <a:chOff x="0" y="0"/>
            <a:chExt cx="762200" cy="4078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200" cy="407809"/>
            </a:xfrm>
            <a:custGeom>
              <a:avLst/>
              <a:gdLst/>
              <a:ahLst/>
              <a:cxnLst/>
              <a:rect r="r" b="b" t="t" l="l"/>
              <a:pathLst>
                <a:path h="407809" w="762200">
                  <a:moveTo>
                    <a:pt x="53504" y="0"/>
                  </a:moveTo>
                  <a:lnTo>
                    <a:pt x="708697" y="0"/>
                  </a:lnTo>
                  <a:cubicBezTo>
                    <a:pt x="738246" y="0"/>
                    <a:pt x="762200" y="23954"/>
                    <a:pt x="762200" y="53504"/>
                  </a:cubicBezTo>
                  <a:lnTo>
                    <a:pt x="762200" y="354305"/>
                  </a:lnTo>
                  <a:cubicBezTo>
                    <a:pt x="762200" y="383854"/>
                    <a:pt x="738246" y="407809"/>
                    <a:pt x="708697" y="407809"/>
                  </a:cubicBezTo>
                  <a:lnTo>
                    <a:pt x="53504" y="407809"/>
                  </a:lnTo>
                  <a:cubicBezTo>
                    <a:pt x="23954" y="407809"/>
                    <a:pt x="0" y="383854"/>
                    <a:pt x="0" y="354305"/>
                  </a:cubicBezTo>
                  <a:lnTo>
                    <a:pt x="0" y="53504"/>
                  </a:lnTo>
                  <a:cubicBezTo>
                    <a:pt x="0" y="23954"/>
                    <a:pt x="23954" y="0"/>
                    <a:pt x="53504" y="0"/>
                  </a:cubicBezTo>
                  <a:close/>
                </a:path>
              </a:pathLst>
            </a:custGeom>
            <a:solidFill>
              <a:srgbClr val="364C5D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762200" cy="436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362177" y="199455"/>
            <a:ext cx="2767364" cy="1089073"/>
          </a:xfrm>
          <a:custGeom>
            <a:avLst/>
            <a:gdLst/>
            <a:ahLst/>
            <a:cxnLst/>
            <a:rect r="r" b="b" t="t" l="l"/>
            <a:pathLst>
              <a:path h="1089073" w="2767364">
                <a:moveTo>
                  <a:pt x="0" y="0"/>
                </a:moveTo>
                <a:lnTo>
                  <a:pt x="2767365" y="0"/>
                </a:lnTo>
                <a:lnTo>
                  <a:pt x="2767365" y="1089073"/>
                </a:lnTo>
                <a:lnTo>
                  <a:pt x="0" y="10890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5675" r="0" b="-78427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032397" y="3595101"/>
            <a:ext cx="2893979" cy="5944039"/>
            <a:chOff x="0" y="0"/>
            <a:chExt cx="762200" cy="15655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2200" cy="1565508"/>
            </a:xfrm>
            <a:custGeom>
              <a:avLst/>
              <a:gdLst/>
              <a:ahLst/>
              <a:cxnLst/>
              <a:rect r="r" b="b" t="t" l="l"/>
              <a:pathLst>
                <a:path h="1565508" w="762200">
                  <a:moveTo>
                    <a:pt x="53504" y="0"/>
                  </a:moveTo>
                  <a:lnTo>
                    <a:pt x="708697" y="0"/>
                  </a:lnTo>
                  <a:cubicBezTo>
                    <a:pt x="738246" y="0"/>
                    <a:pt x="762200" y="23954"/>
                    <a:pt x="762200" y="53504"/>
                  </a:cubicBezTo>
                  <a:lnTo>
                    <a:pt x="762200" y="1512005"/>
                  </a:lnTo>
                  <a:cubicBezTo>
                    <a:pt x="762200" y="1541554"/>
                    <a:pt x="738246" y="1565508"/>
                    <a:pt x="708697" y="1565508"/>
                  </a:cubicBezTo>
                  <a:lnTo>
                    <a:pt x="53504" y="1565508"/>
                  </a:lnTo>
                  <a:cubicBezTo>
                    <a:pt x="23954" y="1565508"/>
                    <a:pt x="0" y="1541554"/>
                    <a:pt x="0" y="1512005"/>
                  </a:cubicBezTo>
                  <a:lnTo>
                    <a:pt x="0" y="53504"/>
                  </a:lnTo>
                  <a:cubicBezTo>
                    <a:pt x="0" y="23954"/>
                    <a:pt x="23954" y="0"/>
                    <a:pt x="53504" y="0"/>
                  </a:cubicBezTo>
                  <a:close/>
                </a:path>
              </a:pathLst>
            </a:custGeom>
            <a:solidFill>
              <a:srgbClr val="66879A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762200" cy="1594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082472" y="3595101"/>
            <a:ext cx="2893979" cy="5944039"/>
            <a:chOff x="0" y="0"/>
            <a:chExt cx="762200" cy="156550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62200" cy="1565508"/>
            </a:xfrm>
            <a:custGeom>
              <a:avLst/>
              <a:gdLst/>
              <a:ahLst/>
              <a:cxnLst/>
              <a:rect r="r" b="b" t="t" l="l"/>
              <a:pathLst>
                <a:path h="1565508" w="762200">
                  <a:moveTo>
                    <a:pt x="53504" y="0"/>
                  </a:moveTo>
                  <a:lnTo>
                    <a:pt x="708697" y="0"/>
                  </a:lnTo>
                  <a:cubicBezTo>
                    <a:pt x="738246" y="0"/>
                    <a:pt x="762200" y="23954"/>
                    <a:pt x="762200" y="53504"/>
                  </a:cubicBezTo>
                  <a:lnTo>
                    <a:pt x="762200" y="1512005"/>
                  </a:lnTo>
                  <a:cubicBezTo>
                    <a:pt x="762200" y="1541554"/>
                    <a:pt x="738246" y="1565508"/>
                    <a:pt x="708697" y="1565508"/>
                  </a:cubicBezTo>
                  <a:lnTo>
                    <a:pt x="53504" y="1565508"/>
                  </a:lnTo>
                  <a:cubicBezTo>
                    <a:pt x="23954" y="1565508"/>
                    <a:pt x="0" y="1541554"/>
                    <a:pt x="0" y="1512005"/>
                  </a:cubicBezTo>
                  <a:lnTo>
                    <a:pt x="0" y="53504"/>
                  </a:lnTo>
                  <a:cubicBezTo>
                    <a:pt x="0" y="23954"/>
                    <a:pt x="23954" y="0"/>
                    <a:pt x="53504" y="0"/>
                  </a:cubicBezTo>
                  <a:close/>
                </a:path>
              </a:pathLst>
            </a:custGeom>
            <a:solidFill>
              <a:srgbClr val="66879A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762200" cy="1594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128851" y="3595101"/>
            <a:ext cx="2893979" cy="5944039"/>
            <a:chOff x="0" y="0"/>
            <a:chExt cx="762200" cy="15655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62200" cy="1565508"/>
            </a:xfrm>
            <a:custGeom>
              <a:avLst/>
              <a:gdLst/>
              <a:ahLst/>
              <a:cxnLst/>
              <a:rect r="r" b="b" t="t" l="l"/>
              <a:pathLst>
                <a:path h="1565508" w="762200">
                  <a:moveTo>
                    <a:pt x="53504" y="0"/>
                  </a:moveTo>
                  <a:lnTo>
                    <a:pt x="708697" y="0"/>
                  </a:lnTo>
                  <a:cubicBezTo>
                    <a:pt x="738246" y="0"/>
                    <a:pt x="762200" y="23954"/>
                    <a:pt x="762200" y="53504"/>
                  </a:cubicBezTo>
                  <a:lnTo>
                    <a:pt x="762200" y="1512005"/>
                  </a:lnTo>
                  <a:cubicBezTo>
                    <a:pt x="762200" y="1541554"/>
                    <a:pt x="738246" y="1565508"/>
                    <a:pt x="708697" y="1565508"/>
                  </a:cubicBezTo>
                  <a:lnTo>
                    <a:pt x="53504" y="1565508"/>
                  </a:lnTo>
                  <a:cubicBezTo>
                    <a:pt x="23954" y="1565508"/>
                    <a:pt x="0" y="1541554"/>
                    <a:pt x="0" y="1512005"/>
                  </a:cubicBezTo>
                  <a:lnTo>
                    <a:pt x="0" y="53504"/>
                  </a:lnTo>
                  <a:cubicBezTo>
                    <a:pt x="0" y="23954"/>
                    <a:pt x="23954" y="0"/>
                    <a:pt x="53504" y="0"/>
                  </a:cubicBezTo>
                  <a:close/>
                </a:path>
              </a:pathLst>
            </a:custGeom>
            <a:solidFill>
              <a:srgbClr val="66879A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762200" cy="1594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7529454" y="218012"/>
            <a:ext cx="526438" cy="396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  <a:spcBef>
                <a:spcPct val="0"/>
              </a:spcBef>
            </a:pPr>
            <a:r>
              <a:rPr lang="en-US" sz="2286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74083" y="7994721"/>
            <a:ext cx="8837745" cy="1318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20"/>
              </a:lnSpc>
              <a:spcBef>
                <a:spcPct val="0"/>
              </a:spcBef>
            </a:pPr>
            <a:r>
              <a:rPr lang="en-US" sz="7728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Overview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15528" y="2660507"/>
            <a:ext cx="2120322" cy="42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0"/>
              </a:lnSpc>
              <a:spcBef>
                <a:spcPct val="0"/>
              </a:spcBef>
            </a:pPr>
            <a:r>
              <a:rPr lang="en-US" b="true" sz="2450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Source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466007" y="2676201"/>
            <a:ext cx="2120322" cy="42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0"/>
              </a:lnSpc>
              <a:spcBef>
                <a:spcPct val="0"/>
              </a:spcBef>
            </a:pPr>
            <a:r>
              <a:rPr lang="en-US" b="true" sz="2450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Key Features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515679" y="2676201"/>
            <a:ext cx="2120322" cy="856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0"/>
              </a:lnSpc>
              <a:spcBef>
                <a:spcPct val="0"/>
              </a:spcBef>
            </a:pPr>
            <a:r>
              <a:rPr lang="en-US" b="true" sz="2450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Collection Methods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36093" y="3950036"/>
            <a:ext cx="2890282" cy="49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</a:p>
          <a:p>
            <a:pPr algn="l" marL="385007" indent="-192503" lvl="1">
              <a:lnSpc>
                <a:spcPts val="2496"/>
              </a:lnSpc>
              <a:buFont typeface="Arial"/>
              <a:buChar char="•"/>
            </a:pP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Dataset obtained from Kaggle</a:t>
            </a:r>
          </a:p>
          <a:p>
            <a:pPr algn="l">
              <a:lnSpc>
                <a:spcPts val="2496"/>
              </a:lnSpc>
            </a:pPr>
          </a:p>
          <a:p>
            <a:pPr algn="l">
              <a:lnSpc>
                <a:spcPts val="2496"/>
              </a:lnSpc>
            </a:pPr>
          </a:p>
          <a:p>
            <a:pPr algn="l" marL="385007" indent="-192503" lvl="1">
              <a:lnSpc>
                <a:spcPts val="2496"/>
              </a:lnSpc>
              <a:buFont typeface="Arial"/>
              <a:buChar char="•"/>
            </a:pP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Logistics Vehicle Maintenance History Dataset</a:t>
            </a:r>
          </a:p>
          <a:p>
            <a:pPr algn="l">
              <a:lnSpc>
                <a:spcPts val="2496"/>
              </a:lnSpc>
            </a:pPr>
          </a:p>
          <a:p>
            <a:pPr algn="l">
              <a:lnSpc>
                <a:spcPts val="2496"/>
              </a:lnSpc>
            </a:pPr>
          </a:p>
          <a:p>
            <a:pPr algn="l" marL="385007" indent="-192503" lvl="1">
              <a:lnSpc>
                <a:spcPts val="2496"/>
              </a:lnSpc>
              <a:buFont typeface="Arial"/>
              <a:buChar char="•"/>
            </a:pP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Represents historical records of vehicle maintenance activities</a:t>
            </a:r>
          </a:p>
          <a:p>
            <a:pPr algn="l">
              <a:lnSpc>
                <a:spcPts val="2496"/>
              </a:lnSpc>
            </a:pPr>
          </a:p>
          <a:p>
            <a:pPr algn="l">
              <a:lnSpc>
                <a:spcPts val="2496"/>
              </a:lnSpc>
              <a:spcBef>
                <a:spcPct val="0"/>
              </a:spcBef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4078775" y="3965713"/>
            <a:ext cx="2890282" cy="5277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</a:p>
          <a:p>
            <a:pPr algn="l" marL="385007" indent="-192503" lvl="1">
              <a:lnSpc>
                <a:spcPts val="2496"/>
              </a:lnSpc>
              <a:buFont typeface="Arial"/>
              <a:buChar char="•"/>
            </a:pP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 fre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y</a:t>
            </a:r>
          </a:p>
          <a:p>
            <a:pPr algn="l">
              <a:lnSpc>
                <a:spcPts val="2496"/>
              </a:lnSpc>
            </a:pPr>
          </a:p>
          <a:p>
            <a:pPr algn="l">
              <a:lnSpc>
                <a:spcPts val="2496"/>
              </a:lnSpc>
            </a:pPr>
          </a:p>
          <a:p>
            <a:pPr algn="l">
              <a:lnSpc>
                <a:spcPts val="2496"/>
              </a:lnSpc>
            </a:pPr>
          </a:p>
          <a:p>
            <a:pPr algn="l" marL="385007" indent="-192503" lvl="1">
              <a:lnSpc>
                <a:spcPts val="2496"/>
              </a:lnSpc>
              <a:buFont typeface="Arial"/>
              <a:buChar char="•"/>
            </a:pP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Typ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 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of m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aintenance 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perf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or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</a:t>
            </a:r>
          </a:p>
          <a:p>
            <a:pPr algn="l">
              <a:lnSpc>
                <a:spcPts val="2496"/>
              </a:lnSpc>
            </a:pPr>
          </a:p>
          <a:p>
            <a:pPr algn="l">
              <a:lnSpc>
                <a:spcPts val="2496"/>
              </a:lnSpc>
            </a:pPr>
          </a:p>
          <a:p>
            <a:pPr algn="l">
              <a:lnSpc>
                <a:spcPts val="2496"/>
              </a:lnSpc>
            </a:pPr>
          </a:p>
          <a:p>
            <a:pPr algn="l" marL="385007" indent="-192503" lvl="1">
              <a:lnSpc>
                <a:spcPts val="2496"/>
              </a:lnSpc>
              <a:buFont typeface="Arial"/>
              <a:buChar char="•"/>
            </a:pP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hicl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co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ion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i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ndica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tor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</a:t>
            </a:r>
          </a:p>
          <a:p>
            <a:pPr algn="l">
              <a:lnSpc>
                <a:spcPts val="2496"/>
              </a:lnSpc>
            </a:pPr>
          </a:p>
          <a:p>
            <a:pPr algn="l">
              <a:lnSpc>
                <a:spcPts val="2496"/>
              </a:lnSpc>
            </a:pPr>
          </a:p>
          <a:p>
            <a:pPr algn="l" marL="385007" indent="-192503" lvl="1">
              <a:lnSpc>
                <a:spcPts val="2496"/>
              </a:lnSpc>
              <a:spcBef>
                <a:spcPct val="0"/>
              </a:spcBef>
              <a:buFont typeface="Arial"/>
              <a:buChar char="•"/>
            </a:pP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me-b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ed fe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atur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(d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ate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s,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i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rval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138376" y="3950036"/>
            <a:ext cx="2890282" cy="5589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</a:p>
          <a:p>
            <a:pPr algn="l" marL="385007" indent="-192503" lvl="1">
              <a:lnSpc>
                <a:spcPts val="2496"/>
              </a:lnSpc>
              <a:buFont typeface="Arial"/>
              <a:buChar char="•"/>
            </a:pP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is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torical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aintenance logs</a:t>
            </a:r>
          </a:p>
          <a:p>
            <a:pPr algn="l">
              <a:lnSpc>
                <a:spcPts val="2496"/>
              </a:lnSpc>
            </a:pPr>
          </a:p>
          <a:p>
            <a:pPr algn="l">
              <a:lnSpc>
                <a:spcPts val="2496"/>
              </a:lnSpc>
            </a:pPr>
          </a:p>
          <a:p>
            <a:pPr algn="l" marL="385007" indent="-192503" lvl="1">
              <a:lnSpc>
                <a:spcPts val="2496"/>
              </a:lnSpc>
              <a:buFont typeface="Arial"/>
              <a:buChar char="•"/>
            </a:pP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ec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orde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 s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erv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ic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a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repair eve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</a:t>
            </a:r>
          </a:p>
          <a:p>
            <a:pPr algn="l">
              <a:lnSpc>
                <a:spcPts val="2496"/>
              </a:lnSpc>
            </a:pPr>
          </a:p>
          <a:p>
            <a:pPr algn="l">
              <a:lnSpc>
                <a:spcPts val="2496"/>
              </a:lnSpc>
            </a:pPr>
          </a:p>
          <a:p>
            <a:pPr algn="l">
              <a:lnSpc>
                <a:spcPts val="2496"/>
              </a:lnSpc>
            </a:pPr>
          </a:p>
          <a:p>
            <a:pPr algn="l" marL="385007" indent="-192503" lvl="1">
              <a:lnSpc>
                <a:spcPts val="2496"/>
              </a:lnSpc>
              <a:buFont typeface="Arial"/>
              <a:buChar char="•"/>
            </a:pP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me-st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amped vehicle 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ecor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ds</a:t>
            </a:r>
          </a:p>
          <a:p>
            <a:pPr algn="l">
              <a:lnSpc>
                <a:spcPts val="2496"/>
              </a:lnSpc>
            </a:pPr>
          </a:p>
          <a:p>
            <a:pPr algn="l">
              <a:lnSpc>
                <a:spcPts val="2496"/>
              </a:lnSpc>
            </a:pPr>
          </a:p>
          <a:p>
            <a:pPr algn="l">
              <a:lnSpc>
                <a:spcPts val="2496"/>
              </a:lnSpc>
            </a:pPr>
          </a:p>
          <a:p>
            <a:pPr algn="l" marL="385007" indent="-192503" lvl="1">
              <a:lnSpc>
                <a:spcPts val="2496"/>
              </a:lnSpc>
              <a:spcBef>
                <a:spcPct val="0"/>
              </a:spcBef>
              <a:buFont typeface="Arial"/>
              <a:buChar char="•"/>
            </a:pP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Collec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ted from operatio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nal logi</a:t>
            </a:r>
            <a:r>
              <a:rPr lang="en-US" sz="1783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stics data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4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2177" y="199455"/>
            <a:ext cx="2767364" cy="1089073"/>
          </a:xfrm>
          <a:custGeom>
            <a:avLst/>
            <a:gdLst/>
            <a:ahLst/>
            <a:cxnLst/>
            <a:rect r="r" b="b" t="t" l="l"/>
            <a:pathLst>
              <a:path h="1089073" w="2767364">
                <a:moveTo>
                  <a:pt x="0" y="0"/>
                </a:moveTo>
                <a:lnTo>
                  <a:pt x="2767365" y="0"/>
                </a:lnTo>
                <a:lnTo>
                  <a:pt x="2767365" y="1089073"/>
                </a:lnTo>
                <a:lnTo>
                  <a:pt x="0" y="1089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675" r="0" b="-784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529454" y="218012"/>
            <a:ext cx="526438" cy="396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  <a:spcBef>
                <a:spcPct val="0"/>
              </a:spcBef>
            </a:pPr>
            <a:r>
              <a:rPr lang="en-US" sz="2286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05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3010527"/>
            <a:ext cx="7574093" cy="1344735"/>
            <a:chOff x="0" y="0"/>
            <a:chExt cx="10098791" cy="1792981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098791" cy="1792981"/>
              <a:chOff x="0" y="0"/>
              <a:chExt cx="1994823" cy="35416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994823" cy="354169"/>
              </a:xfrm>
              <a:custGeom>
                <a:avLst/>
                <a:gdLst/>
                <a:ahLst/>
                <a:cxnLst/>
                <a:rect r="r" b="b" t="t" l="l"/>
                <a:pathLst>
                  <a:path h="354169" w="1994823">
                    <a:moveTo>
                      <a:pt x="20443" y="0"/>
                    </a:moveTo>
                    <a:lnTo>
                      <a:pt x="1974380" y="0"/>
                    </a:lnTo>
                    <a:cubicBezTo>
                      <a:pt x="1985670" y="0"/>
                      <a:pt x="1994823" y="9153"/>
                      <a:pt x="1994823" y="20443"/>
                    </a:cubicBezTo>
                    <a:lnTo>
                      <a:pt x="1994823" y="333726"/>
                    </a:lnTo>
                    <a:cubicBezTo>
                      <a:pt x="1994823" y="339148"/>
                      <a:pt x="1992669" y="344348"/>
                      <a:pt x="1988835" y="348181"/>
                    </a:cubicBezTo>
                    <a:cubicBezTo>
                      <a:pt x="1985002" y="352015"/>
                      <a:pt x="1979802" y="354169"/>
                      <a:pt x="1974380" y="354169"/>
                    </a:cubicBezTo>
                    <a:lnTo>
                      <a:pt x="20443" y="354169"/>
                    </a:lnTo>
                    <a:cubicBezTo>
                      <a:pt x="9153" y="354169"/>
                      <a:pt x="0" y="345016"/>
                      <a:pt x="0" y="333726"/>
                    </a:cubicBezTo>
                    <a:lnTo>
                      <a:pt x="0" y="20443"/>
                    </a:lnTo>
                    <a:cubicBezTo>
                      <a:pt x="0" y="9153"/>
                      <a:pt x="9153" y="0"/>
                      <a:pt x="20443" y="0"/>
                    </a:cubicBezTo>
                    <a:close/>
                  </a:path>
                </a:pathLst>
              </a:custGeom>
              <a:solidFill>
                <a:srgbClr val="364C5D"/>
              </a:solidFill>
              <a:ln w="19050" cap="sq">
                <a:solidFill>
                  <a:srgbClr val="EEEEEE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28575"/>
                <a:ext cx="1994823" cy="3827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222851" y="123481"/>
              <a:ext cx="9653088" cy="14983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27"/>
                </a:lnSpc>
              </a:pPr>
              <a:r>
                <a:rPr lang="en-US" sz="2162" b="true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Data Cleaning</a:t>
              </a:r>
            </a:p>
            <a:p>
              <a:pPr algn="l">
                <a:lnSpc>
                  <a:spcPts val="3027"/>
                </a:lnSpc>
                <a:spcBef>
                  <a:spcPct val="0"/>
                </a:spcBef>
              </a:pPr>
              <a:r>
                <a:rPr lang="en-US" sz="2162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Handle missing values, remove duplicates, normalize data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512168" y="962012"/>
            <a:ext cx="10346077" cy="1436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34"/>
              </a:lnSpc>
              <a:spcBef>
                <a:spcPct val="0"/>
              </a:spcBef>
            </a:pPr>
            <a:r>
              <a:rPr lang="en-US" sz="8382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Process/Approach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5463929"/>
            <a:ext cx="7574093" cy="1716210"/>
            <a:chOff x="0" y="0"/>
            <a:chExt cx="10098791" cy="2288281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0098791" cy="2288281"/>
              <a:chOff x="0" y="0"/>
              <a:chExt cx="1994823" cy="452006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994823" cy="452006"/>
              </a:xfrm>
              <a:custGeom>
                <a:avLst/>
                <a:gdLst/>
                <a:ahLst/>
                <a:cxnLst/>
                <a:rect r="r" b="b" t="t" l="l"/>
                <a:pathLst>
                  <a:path h="452006" w="1994823">
                    <a:moveTo>
                      <a:pt x="20443" y="0"/>
                    </a:moveTo>
                    <a:lnTo>
                      <a:pt x="1974380" y="0"/>
                    </a:lnTo>
                    <a:cubicBezTo>
                      <a:pt x="1985670" y="0"/>
                      <a:pt x="1994823" y="9153"/>
                      <a:pt x="1994823" y="20443"/>
                    </a:cubicBezTo>
                    <a:lnTo>
                      <a:pt x="1994823" y="431563"/>
                    </a:lnTo>
                    <a:cubicBezTo>
                      <a:pt x="1994823" y="436985"/>
                      <a:pt x="1992669" y="442185"/>
                      <a:pt x="1988835" y="446018"/>
                    </a:cubicBezTo>
                    <a:cubicBezTo>
                      <a:pt x="1985002" y="449852"/>
                      <a:pt x="1979802" y="452006"/>
                      <a:pt x="1974380" y="452006"/>
                    </a:cubicBezTo>
                    <a:lnTo>
                      <a:pt x="20443" y="452006"/>
                    </a:lnTo>
                    <a:cubicBezTo>
                      <a:pt x="9153" y="452006"/>
                      <a:pt x="0" y="442853"/>
                      <a:pt x="0" y="431563"/>
                    </a:cubicBezTo>
                    <a:lnTo>
                      <a:pt x="0" y="20443"/>
                    </a:lnTo>
                    <a:cubicBezTo>
                      <a:pt x="0" y="9153"/>
                      <a:pt x="9153" y="0"/>
                      <a:pt x="20443" y="0"/>
                    </a:cubicBezTo>
                    <a:close/>
                  </a:path>
                </a:pathLst>
              </a:custGeom>
              <a:solidFill>
                <a:srgbClr val="364C5D"/>
              </a:solidFill>
              <a:ln w="19050" cap="sq">
                <a:solidFill>
                  <a:srgbClr val="EEEEEE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1994823" cy="48058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250453" y="151385"/>
              <a:ext cx="9848338" cy="1947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71"/>
                </a:lnSpc>
              </a:pPr>
              <a:r>
                <a:rPr lang="en-US" sz="2122" b="true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Superv</a:t>
              </a:r>
              <a:r>
                <a:rPr lang="en-US" sz="2122" b="true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ised Learning</a:t>
              </a:r>
            </a:p>
            <a:p>
              <a:pPr algn="l">
                <a:lnSpc>
                  <a:spcPts val="2971"/>
                </a:lnSpc>
                <a:spcBef>
                  <a:spcPct val="0"/>
                </a:spcBef>
              </a:pPr>
              <a:r>
                <a:rPr lang="en-US" sz="2122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Train models to predict advice using Gradient Boosting Decision Trees (GBDT) algorithm and Random Forest (RF)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85207" y="5463929"/>
            <a:ext cx="7574093" cy="1344735"/>
            <a:chOff x="0" y="0"/>
            <a:chExt cx="10098791" cy="1792981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0098791" cy="1792981"/>
              <a:chOff x="0" y="0"/>
              <a:chExt cx="1994823" cy="354169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994823" cy="354169"/>
              </a:xfrm>
              <a:custGeom>
                <a:avLst/>
                <a:gdLst/>
                <a:ahLst/>
                <a:cxnLst/>
                <a:rect r="r" b="b" t="t" l="l"/>
                <a:pathLst>
                  <a:path h="354169" w="1994823">
                    <a:moveTo>
                      <a:pt x="20443" y="0"/>
                    </a:moveTo>
                    <a:lnTo>
                      <a:pt x="1974380" y="0"/>
                    </a:lnTo>
                    <a:cubicBezTo>
                      <a:pt x="1985670" y="0"/>
                      <a:pt x="1994823" y="9153"/>
                      <a:pt x="1994823" y="20443"/>
                    </a:cubicBezTo>
                    <a:lnTo>
                      <a:pt x="1994823" y="333726"/>
                    </a:lnTo>
                    <a:cubicBezTo>
                      <a:pt x="1994823" y="339148"/>
                      <a:pt x="1992669" y="344348"/>
                      <a:pt x="1988835" y="348181"/>
                    </a:cubicBezTo>
                    <a:cubicBezTo>
                      <a:pt x="1985002" y="352015"/>
                      <a:pt x="1979802" y="354169"/>
                      <a:pt x="1974380" y="354169"/>
                    </a:cubicBezTo>
                    <a:lnTo>
                      <a:pt x="20443" y="354169"/>
                    </a:lnTo>
                    <a:cubicBezTo>
                      <a:pt x="9153" y="354169"/>
                      <a:pt x="0" y="345016"/>
                      <a:pt x="0" y="333726"/>
                    </a:cubicBezTo>
                    <a:lnTo>
                      <a:pt x="0" y="20443"/>
                    </a:lnTo>
                    <a:cubicBezTo>
                      <a:pt x="0" y="9153"/>
                      <a:pt x="9153" y="0"/>
                      <a:pt x="20443" y="0"/>
                    </a:cubicBezTo>
                    <a:close/>
                  </a:path>
                </a:pathLst>
              </a:custGeom>
              <a:solidFill>
                <a:srgbClr val="364C5D"/>
              </a:solidFill>
              <a:ln w="19050" cap="sq">
                <a:solidFill>
                  <a:srgbClr val="EEEEEE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28575"/>
                <a:ext cx="1994823" cy="3827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266355" y="151385"/>
              <a:ext cx="9693756" cy="14521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71"/>
                </a:lnSpc>
              </a:pPr>
              <a:r>
                <a:rPr lang="en-US" sz="2122" b="true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Unsupervised L</a:t>
              </a:r>
              <a:r>
                <a:rPr lang="en-US" sz="2122" b="true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earning</a:t>
              </a:r>
            </a:p>
            <a:p>
              <a:pPr algn="l">
                <a:lnSpc>
                  <a:spcPts val="2971"/>
                </a:lnSpc>
                <a:spcBef>
                  <a:spcPct val="0"/>
                </a:spcBef>
              </a:pPr>
              <a:r>
                <a:rPr lang="en-US" sz="2122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Apply clustering to find patterns and improve recommendations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356953" y="7913565"/>
            <a:ext cx="7574093" cy="1344735"/>
            <a:chOff x="0" y="0"/>
            <a:chExt cx="10098791" cy="1792981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0098791" cy="1792981"/>
              <a:chOff x="0" y="0"/>
              <a:chExt cx="1994823" cy="354169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994823" cy="354169"/>
              </a:xfrm>
              <a:custGeom>
                <a:avLst/>
                <a:gdLst/>
                <a:ahLst/>
                <a:cxnLst/>
                <a:rect r="r" b="b" t="t" l="l"/>
                <a:pathLst>
                  <a:path h="354169" w="1994823">
                    <a:moveTo>
                      <a:pt x="20443" y="0"/>
                    </a:moveTo>
                    <a:lnTo>
                      <a:pt x="1974380" y="0"/>
                    </a:lnTo>
                    <a:cubicBezTo>
                      <a:pt x="1985670" y="0"/>
                      <a:pt x="1994823" y="9153"/>
                      <a:pt x="1994823" y="20443"/>
                    </a:cubicBezTo>
                    <a:lnTo>
                      <a:pt x="1994823" y="333726"/>
                    </a:lnTo>
                    <a:cubicBezTo>
                      <a:pt x="1994823" y="339148"/>
                      <a:pt x="1992669" y="344348"/>
                      <a:pt x="1988835" y="348181"/>
                    </a:cubicBezTo>
                    <a:cubicBezTo>
                      <a:pt x="1985002" y="352015"/>
                      <a:pt x="1979802" y="354169"/>
                      <a:pt x="1974380" y="354169"/>
                    </a:cubicBezTo>
                    <a:lnTo>
                      <a:pt x="20443" y="354169"/>
                    </a:lnTo>
                    <a:cubicBezTo>
                      <a:pt x="9153" y="354169"/>
                      <a:pt x="0" y="345016"/>
                      <a:pt x="0" y="333726"/>
                    </a:cubicBezTo>
                    <a:lnTo>
                      <a:pt x="0" y="20443"/>
                    </a:lnTo>
                    <a:cubicBezTo>
                      <a:pt x="0" y="9153"/>
                      <a:pt x="9153" y="0"/>
                      <a:pt x="20443" y="0"/>
                    </a:cubicBezTo>
                    <a:close/>
                  </a:path>
                </a:pathLst>
              </a:custGeom>
              <a:solidFill>
                <a:srgbClr val="364C5D"/>
              </a:solidFill>
              <a:ln w="19050" cap="sq">
                <a:solidFill>
                  <a:srgbClr val="EEEEEE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28575"/>
                <a:ext cx="1994823" cy="3827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266355" y="151385"/>
              <a:ext cx="9693756" cy="14521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71"/>
                </a:lnSpc>
              </a:pPr>
              <a:r>
                <a:rPr lang="en-US" sz="2122" b="true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Generative AI (GAI)</a:t>
              </a:r>
            </a:p>
            <a:p>
              <a:pPr algn="l">
                <a:lnSpc>
                  <a:spcPts val="2971"/>
                </a:lnSpc>
                <a:spcBef>
                  <a:spcPct val="0"/>
                </a:spcBef>
              </a:pPr>
              <a:r>
                <a:rPr lang="en-US" sz="2122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integrate TinyLlama and Microsoft Phi-2 models to generate detailed advice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685207" y="3010527"/>
            <a:ext cx="7574093" cy="1344735"/>
            <a:chOff x="0" y="0"/>
            <a:chExt cx="10098791" cy="1792981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10098791" cy="1792981"/>
              <a:chOff x="0" y="0"/>
              <a:chExt cx="1994823" cy="354169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994823" cy="354169"/>
              </a:xfrm>
              <a:custGeom>
                <a:avLst/>
                <a:gdLst/>
                <a:ahLst/>
                <a:cxnLst/>
                <a:rect r="r" b="b" t="t" l="l"/>
                <a:pathLst>
                  <a:path h="354169" w="1994823">
                    <a:moveTo>
                      <a:pt x="20443" y="0"/>
                    </a:moveTo>
                    <a:lnTo>
                      <a:pt x="1974380" y="0"/>
                    </a:lnTo>
                    <a:cubicBezTo>
                      <a:pt x="1985670" y="0"/>
                      <a:pt x="1994823" y="9153"/>
                      <a:pt x="1994823" y="20443"/>
                    </a:cubicBezTo>
                    <a:lnTo>
                      <a:pt x="1994823" y="333726"/>
                    </a:lnTo>
                    <a:cubicBezTo>
                      <a:pt x="1994823" y="339148"/>
                      <a:pt x="1992669" y="344348"/>
                      <a:pt x="1988835" y="348181"/>
                    </a:cubicBezTo>
                    <a:cubicBezTo>
                      <a:pt x="1985002" y="352015"/>
                      <a:pt x="1979802" y="354169"/>
                      <a:pt x="1974380" y="354169"/>
                    </a:cubicBezTo>
                    <a:lnTo>
                      <a:pt x="20443" y="354169"/>
                    </a:lnTo>
                    <a:cubicBezTo>
                      <a:pt x="9153" y="354169"/>
                      <a:pt x="0" y="345016"/>
                      <a:pt x="0" y="333726"/>
                    </a:cubicBezTo>
                    <a:lnTo>
                      <a:pt x="0" y="20443"/>
                    </a:lnTo>
                    <a:cubicBezTo>
                      <a:pt x="0" y="9153"/>
                      <a:pt x="9153" y="0"/>
                      <a:pt x="20443" y="0"/>
                    </a:cubicBezTo>
                    <a:close/>
                  </a:path>
                </a:pathLst>
              </a:custGeom>
              <a:solidFill>
                <a:srgbClr val="364C5D"/>
              </a:solidFill>
              <a:ln w="19050" cap="sq">
                <a:solidFill>
                  <a:srgbClr val="EEEEEE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28575"/>
                <a:ext cx="1994823" cy="3827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222851" y="123481"/>
              <a:ext cx="9653088" cy="14983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27"/>
                </a:lnSpc>
              </a:pPr>
              <a:r>
                <a:rPr lang="en-US" sz="2162" b="true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EDA (Exploratory Data Analysis)</a:t>
              </a:r>
            </a:p>
            <a:p>
              <a:pPr algn="l">
                <a:lnSpc>
                  <a:spcPts val="3027"/>
                </a:lnSpc>
                <a:spcBef>
                  <a:spcPct val="0"/>
                </a:spcBef>
              </a:pPr>
              <a:r>
                <a:rPr lang="en-US" sz="2162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Visualize distributions, statistical summaries, and class balance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4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83782" y="3476130"/>
            <a:ext cx="3664777" cy="2391022"/>
            <a:chOff x="0" y="0"/>
            <a:chExt cx="965209" cy="6297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5209" cy="629734"/>
            </a:xfrm>
            <a:custGeom>
              <a:avLst/>
              <a:gdLst/>
              <a:ahLst/>
              <a:cxnLst/>
              <a:rect r="r" b="b" t="t" l="l"/>
              <a:pathLst>
                <a:path h="629734" w="965209">
                  <a:moveTo>
                    <a:pt x="42250" y="0"/>
                  </a:moveTo>
                  <a:lnTo>
                    <a:pt x="922958" y="0"/>
                  </a:lnTo>
                  <a:cubicBezTo>
                    <a:pt x="934164" y="0"/>
                    <a:pt x="944910" y="4451"/>
                    <a:pt x="952834" y="12375"/>
                  </a:cubicBezTo>
                  <a:cubicBezTo>
                    <a:pt x="960757" y="20298"/>
                    <a:pt x="965209" y="31045"/>
                    <a:pt x="965209" y="42250"/>
                  </a:cubicBezTo>
                  <a:lnTo>
                    <a:pt x="965209" y="587484"/>
                  </a:lnTo>
                  <a:cubicBezTo>
                    <a:pt x="965209" y="610818"/>
                    <a:pt x="946292" y="629734"/>
                    <a:pt x="922958" y="629734"/>
                  </a:cubicBezTo>
                  <a:lnTo>
                    <a:pt x="42250" y="629734"/>
                  </a:lnTo>
                  <a:cubicBezTo>
                    <a:pt x="18916" y="629734"/>
                    <a:pt x="0" y="610818"/>
                    <a:pt x="0" y="587484"/>
                  </a:cubicBezTo>
                  <a:lnTo>
                    <a:pt x="0" y="42250"/>
                  </a:lnTo>
                  <a:cubicBezTo>
                    <a:pt x="0" y="18916"/>
                    <a:pt x="18916" y="0"/>
                    <a:pt x="42250" y="0"/>
                  </a:cubicBezTo>
                  <a:close/>
                </a:path>
              </a:pathLst>
            </a:custGeom>
            <a:solidFill>
              <a:srgbClr val="364C5D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965209" cy="658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955640" y="3655141"/>
            <a:ext cx="572992" cy="572992"/>
          </a:xfrm>
          <a:custGeom>
            <a:avLst/>
            <a:gdLst/>
            <a:ahLst/>
            <a:cxnLst/>
            <a:rect r="r" b="b" t="t" l="l"/>
            <a:pathLst>
              <a:path h="572992" w="572992">
                <a:moveTo>
                  <a:pt x="0" y="0"/>
                </a:moveTo>
                <a:lnTo>
                  <a:pt x="572992" y="0"/>
                </a:lnTo>
                <a:lnTo>
                  <a:pt x="572992" y="572992"/>
                </a:lnTo>
                <a:lnTo>
                  <a:pt x="0" y="5729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182108" y="3476130"/>
            <a:ext cx="3664777" cy="2391022"/>
            <a:chOff x="0" y="0"/>
            <a:chExt cx="965209" cy="6297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5209" cy="629734"/>
            </a:xfrm>
            <a:custGeom>
              <a:avLst/>
              <a:gdLst/>
              <a:ahLst/>
              <a:cxnLst/>
              <a:rect r="r" b="b" t="t" l="l"/>
              <a:pathLst>
                <a:path h="629734" w="965209">
                  <a:moveTo>
                    <a:pt x="42250" y="0"/>
                  </a:moveTo>
                  <a:lnTo>
                    <a:pt x="922958" y="0"/>
                  </a:lnTo>
                  <a:cubicBezTo>
                    <a:pt x="934164" y="0"/>
                    <a:pt x="944910" y="4451"/>
                    <a:pt x="952834" y="12375"/>
                  </a:cubicBezTo>
                  <a:cubicBezTo>
                    <a:pt x="960757" y="20298"/>
                    <a:pt x="965209" y="31045"/>
                    <a:pt x="965209" y="42250"/>
                  </a:cubicBezTo>
                  <a:lnTo>
                    <a:pt x="965209" y="587484"/>
                  </a:lnTo>
                  <a:cubicBezTo>
                    <a:pt x="965209" y="610818"/>
                    <a:pt x="946292" y="629734"/>
                    <a:pt x="922958" y="629734"/>
                  </a:cubicBezTo>
                  <a:lnTo>
                    <a:pt x="42250" y="629734"/>
                  </a:lnTo>
                  <a:cubicBezTo>
                    <a:pt x="18916" y="629734"/>
                    <a:pt x="0" y="610818"/>
                    <a:pt x="0" y="587484"/>
                  </a:cubicBezTo>
                  <a:lnTo>
                    <a:pt x="0" y="42250"/>
                  </a:lnTo>
                  <a:cubicBezTo>
                    <a:pt x="0" y="18916"/>
                    <a:pt x="18916" y="0"/>
                    <a:pt x="42250" y="0"/>
                  </a:cubicBezTo>
                  <a:close/>
                </a:path>
              </a:pathLst>
            </a:custGeom>
            <a:solidFill>
              <a:srgbClr val="364C5D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965209" cy="658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615612" y="3538550"/>
            <a:ext cx="517387" cy="517387"/>
          </a:xfrm>
          <a:custGeom>
            <a:avLst/>
            <a:gdLst/>
            <a:ahLst/>
            <a:cxnLst/>
            <a:rect r="r" b="b" t="t" l="l"/>
            <a:pathLst>
              <a:path h="517387" w="517387">
                <a:moveTo>
                  <a:pt x="0" y="0"/>
                </a:moveTo>
                <a:lnTo>
                  <a:pt x="517387" y="0"/>
                </a:lnTo>
                <a:lnTo>
                  <a:pt x="517387" y="517387"/>
                </a:lnTo>
                <a:lnTo>
                  <a:pt x="0" y="5173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276765" y="3941637"/>
            <a:ext cx="390896" cy="418380"/>
          </a:xfrm>
          <a:custGeom>
            <a:avLst/>
            <a:gdLst/>
            <a:ahLst/>
            <a:cxnLst/>
            <a:rect r="r" b="b" t="t" l="l"/>
            <a:pathLst>
              <a:path h="418380" w="390896">
                <a:moveTo>
                  <a:pt x="0" y="0"/>
                </a:moveTo>
                <a:lnTo>
                  <a:pt x="390895" y="0"/>
                </a:lnTo>
                <a:lnTo>
                  <a:pt x="390895" y="418381"/>
                </a:lnTo>
                <a:lnTo>
                  <a:pt x="0" y="4183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2473336" y="3476130"/>
            <a:ext cx="3664777" cy="2391022"/>
            <a:chOff x="0" y="0"/>
            <a:chExt cx="965209" cy="62973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65209" cy="629734"/>
            </a:xfrm>
            <a:custGeom>
              <a:avLst/>
              <a:gdLst/>
              <a:ahLst/>
              <a:cxnLst/>
              <a:rect r="r" b="b" t="t" l="l"/>
              <a:pathLst>
                <a:path h="629734" w="965209">
                  <a:moveTo>
                    <a:pt x="42250" y="0"/>
                  </a:moveTo>
                  <a:lnTo>
                    <a:pt x="922958" y="0"/>
                  </a:lnTo>
                  <a:cubicBezTo>
                    <a:pt x="934164" y="0"/>
                    <a:pt x="944910" y="4451"/>
                    <a:pt x="952834" y="12375"/>
                  </a:cubicBezTo>
                  <a:cubicBezTo>
                    <a:pt x="960757" y="20298"/>
                    <a:pt x="965209" y="31045"/>
                    <a:pt x="965209" y="42250"/>
                  </a:cubicBezTo>
                  <a:lnTo>
                    <a:pt x="965209" y="587484"/>
                  </a:lnTo>
                  <a:cubicBezTo>
                    <a:pt x="965209" y="610818"/>
                    <a:pt x="946292" y="629734"/>
                    <a:pt x="922958" y="629734"/>
                  </a:cubicBezTo>
                  <a:lnTo>
                    <a:pt x="42250" y="629734"/>
                  </a:lnTo>
                  <a:cubicBezTo>
                    <a:pt x="18916" y="629734"/>
                    <a:pt x="0" y="610818"/>
                    <a:pt x="0" y="587484"/>
                  </a:cubicBezTo>
                  <a:lnTo>
                    <a:pt x="0" y="42250"/>
                  </a:lnTo>
                  <a:cubicBezTo>
                    <a:pt x="0" y="18916"/>
                    <a:pt x="18916" y="0"/>
                    <a:pt x="42250" y="0"/>
                  </a:cubicBezTo>
                  <a:close/>
                </a:path>
              </a:pathLst>
            </a:custGeom>
            <a:solidFill>
              <a:srgbClr val="364C5D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965209" cy="658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2622476" y="3601222"/>
            <a:ext cx="1018393" cy="286496"/>
          </a:xfrm>
          <a:custGeom>
            <a:avLst/>
            <a:gdLst/>
            <a:ahLst/>
            <a:cxnLst/>
            <a:rect r="r" b="b" t="t" l="l"/>
            <a:pathLst>
              <a:path h="286496" w="1018393">
                <a:moveTo>
                  <a:pt x="0" y="0"/>
                </a:moveTo>
                <a:lnTo>
                  <a:pt x="1018393" y="0"/>
                </a:lnTo>
                <a:lnTo>
                  <a:pt x="1018393" y="286496"/>
                </a:lnTo>
                <a:lnTo>
                  <a:pt x="0" y="2864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9244" r="0" b="-9244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578261" y="3827337"/>
            <a:ext cx="518262" cy="495301"/>
          </a:xfrm>
          <a:custGeom>
            <a:avLst/>
            <a:gdLst/>
            <a:ahLst/>
            <a:cxnLst/>
            <a:rect r="r" b="b" t="t" l="l"/>
            <a:pathLst>
              <a:path h="495301" w="518262">
                <a:moveTo>
                  <a:pt x="0" y="0"/>
                </a:moveTo>
                <a:lnTo>
                  <a:pt x="518262" y="0"/>
                </a:lnTo>
                <a:lnTo>
                  <a:pt x="518262" y="495301"/>
                </a:lnTo>
                <a:lnTo>
                  <a:pt x="0" y="4953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783782" y="6867278"/>
            <a:ext cx="3664777" cy="2391022"/>
            <a:chOff x="0" y="0"/>
            <a:chExt cx="965209" cy="6297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65209" cy="629734"/>
            </a:xfrm>
            <a:custGeom>
              <a:avLst/>
              <a:gdLst/>
              <a:ahLst/>
              <a:cxnLst/>
              <a:rect r="r" b="b" t="t" l="l"/>
              <a:pathLst>
                <a:path h="629734" w="965209">
                  <a:moveTo>
                    <a:pt x="42250" y="0"/>
                  </a:moveTo>
                  <a:lnTo>
                    <a:pt x="922958" y="0"/>
                  </a:lnTo>
                  <a:cubicBezTo>
                    <a:pt x="934164" y="0"/>
                    <a:pt x="944910" y="4451"/>
                    <a:pt x="952834" y="12375"/>
                  </a:cubicBezTo>
                  <a:cubicBezTo>
                    <a:pt x="960757" y="20298"/>
                    <a:pt x="965209" y="31045"/>
                    <a:pt x="965209" y="42250"/>
                  </a:cubicBezTo>
                  <a:lnTo>
                    <a:pt x="965209" y="587484"/>
                  </a:lnTo>
                  <a:cubicBezTo>
                    <a:pt x="965209" y="610818"/>
                    <a:pt x="946292" y="629734"/>
                    <a:pt x="922958" y="629734"/>
                  </a:cubicBezTo>
                  <a:lnTo>
                    <a:pt x="42250" y="629734"/>
                  </a:lnTo>
                  <a:cubicBezTo>
                    <a:pt x="18916" y="629734"/>
                    <a:pt x="0" y="610818"/>
                    <a:pt x="0" y="587484"/>
                  </a:cubicBezTo>
                  <a:lnTo>
                    <a:pt x="0" y="42250"/>
                  </a:lnTo>
                  <a:cubicBezTo>
                    <a:pt x="0" y="18916"/>
                    <a:pt x="18916" y="0"/>
                    <a:pt x="42250" y="0"/>
                  </a:cubicBezTo>
                  <a:close/>
                </a:path>
              </a:pathLst>
            </a:custGeom>
            <a:solidFill>
              <a:srgbClr val="364C5D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965209" cy="658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182108" y="6867278"/>
            <a:ext cx="3664777" cy="2391022"/>
            <a:chOff x="0" y="0"/>
            <a:chExt cx="965209" cy="6297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65209" cy="629734"/>
            </a:xfrm>
            <a:custGeom>
              <a:avLst/>
              <a:gdLst/>
              <a:ahLst/>
              <a:cxnLst/>
              <a:rect r="r" b="b" t="t" l="l"/>
              <a:pathLst>
                <a:path h="629734" w="965209">
                  <a:moveTo>
                    <a:pt x="42250" y="0"/>
                  </a:moveTo>
                  <a:lnTo>
                    <a:pt x="922958" y="0"/>
                  </a:lnTo>
                  <a:cubicBezTo>
                    <a:pt x="934164" y="0"/>
                    <a:pt x="944910" y="4451"/>
                    <a:pt x="952834" y="12375"/>
                  </a:cubicBezTo>
                  <a:cubicBezTo>
                    <a:pt x="960757" y="20298"/>
                    <a:pt x="965209" y="31045"/>
                    <a:pt x="965209" y="42250"/>
                  </a:cubicBezTo>
                  <a:lnTo>
                    <a:pt x="965209" y="587484"/>
                  </a:lnTo>
                  <a:cubicBezTo>
                    <a:pt x="965209" y="610818"/>
                    <a:pt x="946292" y="629734"/>
                    <a:pt x="922958" y="629734"/>
                  </a:cubicBezTo>
                  <a:lnTo>
                    <a:pt x="42250" y="629734"/>
                  </a:lnTo>
                  <a:cubicBezTo>
                    <a:pt x="18916" y="629734"/>
                    <a:pt x="0" y="610818"/>
                    <a:pt x="0" y="587484"/>
                  </a:cubicBezTo>
                  <a:lnTo>
                    <a:pt x="0" y="42250"/>
                  </a:lnTo>
                  <a:cubicBezTo>
                    <a:pt x="0" y="18916"/>
                    <a:pt x="18916" y="0"/>
                    <a:pt x="42250" y="0"/>
                  </a:cubicBezTo>
                  <a:close/>
                </a:path>
              </a:pathLst>
            </a:custGeom>
            <a:solidFill>
              <a:srgbClr val="364C5D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965209" cy="658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473336" y="6867278"/>
            <a:ext cx="3664777" cy="2391022"/>
            <a:chOff x="0" y="0"/>
            <a:chExt cx="965209" cy="6297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65209" cy="629734"/>
            </a:xfrm>
            <a:custGeom>
              <a:avLst/>
              <a:gdLst/>
              <a:ahLst/>
              <a:cxnLst/>
              <a:rect r="r" b="b" t="t" l="l"/>
              <a:pathLst>
                <a:path h="629734" w="965209">
                  <a:moveTo>
                    <a:pt x="42250" y="0"/>
                  </a:moveTo>
                  <a:lnTo>
                    <a:pt x="922958" y="0"/>
                  </a:lnTo>
                  <a:cubicBezTo>
                    <a:pt x="934164" y="0"/>
                    <a:pt x="944910" y="4451"/>
                    <a:pt x="952834" y="12375"/>
                  </a:cubicBezTo>
                  <a:cubicBezTo>
                    <a:pt x="960757" y="20298"/>
                    <a:pt x="965209" y="31045"/>
                    <a:pt x="965209" y="42250"/>
                  </a:cubicBezTo>
                  <a:lnTo>
                    <a:pt x="965209" y="587484"/>
                  </a:lnTo>
                  <a:cubicBezTo>
                    <a:pt x="965209" y="610818"/>
                    <a:pt x="946292" y="629734"/>
                    <a:pt x="922958" y="629734"/>
                  </a:cubicBezTo>
                  <a:lnTo>
                    <a:pt x="42250" y="629734"/>
                  </a:lnTo>
                  <a:cubicBezTo>
                    <a:pt x="18916" y="629734"/>
                    <a:pt x="0" y="610818"/>
                    <a:pt x="0" y="587484"/>
                  </a:cubicBezTo>
                  <a:lnTo>
                    <a:pt x="0" y="42250"/>
                  </a:lnTo>
                  <a:cubicBezTo>
                    <a:pt x="0" y="18916"/>
                    <a:pt x="18916" y="0"/>
                    <a:pt x="42250" y="0"/>
                  </a:cubicBezTo>
                  <a:close/>
                </a:path>
              </a:pathLst>
            </a:custGeom>
            <a:solidFill>
              <a:srgbClr val="364C5D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965209" cy="658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2005278" y="7041589"/>
            <a:ext cx="878801" cy="474553"/>
          </a:xfrm>
          <a:custGeom>
            <a:avLst/>
            <a:gdLst/>
            <a:ahLst/>
            <a:cxnLst/>
            <a:rect r="r" b="b" t="t" l="l"/>
            <a:pathLst>
              <a:path h="474553" w="878801">
                <a:moveTo>
                  <a:pt x="0" y="0"/>
                </a:moveTo>
                <a:lnTo>
                  <a:pt x="878801" y="0"/>
                </a:lnTo>
                <a:lnTo>
                  <a:pt x="878801" y="474552"/>
                </a:lnTo>
                <a:lnTo>
                  <a:pt x="0" y="4745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2755342" y="7447084"/>
            <a:ext cx="402928" cy="402928"/>
          </a:xfrm>
          <a:custGeom>
            <a:avLst/>
            <a:gdLst/>
            <a:ahLst/>
            <a:cxnLst/>
            <a:rect r="r" b="b" t="t" l="l"/>
            <a:pathLst>
              <a:path h="402928" w="402928">
                <a:moveTo>
                  <a:pt x="0" y="0"/>
                </a:moveTo>
                <a:lnTo>
                  <a:pt x="402928" y="0"/>
                </a:lnTo>
                <a:lnTo>
                  <a:pt x="402928" y="402929"/>
                </a:lnTo>
                <a:lnTo>
                  <a:pt x="0" y="40292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956806" y="7133267"/>
            <a:ext cx="508638" cy="291196"/>
          </a:xfrm>
          <a:custGeom>
            <a:avLst/>
            <a:gdLst/>
            <a:ahLst/>
            <a:cxnLst/>
            <a:rect r="r" b="b" t="t" l="l"/>
            <a:pathLst>
              <a:path h="291196" w="508638">
                <a:moveTo>
                  <a:pt x="0" y="0"/>
                </a:moveTo>
                <a:lnTo>
                  <a:pt x="508638" y="0"/>
                </a:lnTo>
                <a:lnTo>
                  <a:pt x="508638" y="291196"/>
                </a:lnTo>
                <a:lnTo>
                  <a:pt x="0" y="29119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7412587" y="7041589"/>
            <a:ext cx="608382" cy="608382"/>
          </a:xfrm>
          <a:custGeom>
            <a:avLst/>
            <a:gdLst/>
            <a:ahLst/>
            <a:cxnLst/>
            <a:rect r="r" b="b" t="t" l="l"/>
            <a:pathLst>
              <a:path h="608382" w="608382">
                <a:moveTo>
                  <a:pt x="0" y="0"/>
                </a:moveTo>
                <a:lnTo>
                  <a:pt x="608382" y="0"/>
                </a:lnTo>
                <a:lnTo>
                  <a:pt x="608382" y="608382"/>
                </a:lnTo>
                <a:lnTo>
                  <a:pt x="0" y="60838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3074579" y="3798762"/>
            <a:ext cx="10951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python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242136" y="4241827"/>
            <a:ext cx="2595438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main programming language used for data analysis, machine learning modeling, and Generative AI integration.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132999" y="3798762"/>
            <a:ext cx="176299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Pandas &amp; NumPy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716778" y="4508527"/>
            <a:ext cx="2595438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Python libraries used for data cleaning, manipulation, and numerical computations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283595" y="3798762"/>
            <a:ext cx="204425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Matplotlib &amp; Seaborn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008005" y="4508527"/>
            <a:ext cx="2595438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visualization python libraries used for creating charts, graphs, and statistical plots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074579" y="7189909"/>
            <a:ext cx="109515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Scikit-learn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242136" y="7766324"/>
            <a:ext cx="2595438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Machine learning python libraries Used to build and evaluate supervised &amp; unsupervised models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132999" y="7189909"/>
            <a:ext cx="176299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Transformers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716778" y="7666159"/>
            <a:ext cx="2595438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Python library used to access and integrate Generative AI models (TinyLlama and Microsoft Phi-2 models)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640869" y="7170859"/>
            <a:ext cx="1328142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Google Colab &amp; GitHub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009060" y="8033024"/>
            <a:ext cx="2595438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Platforms used for Version control &amp; collaboration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5082452" y="6600572"/>
            <a:ext cx="732212" cy="732212"/>
          </a:xfrm>
          <a:custGeom>
            <a:avLst/>
            <a:gdLst/>
            <a:ahLst/>
            <a:cxnLst/>
            <a:rect r="r" b="b" t="t" l="l"/>
            <a:pathLst>
              <a:path h="732212" w="732212">
                <a:moveTo>
                  <a:pt x="0" y="0"/>
                </a:moveTo>
                <a:lnTo>
                  <a:pt x="732212" y="0"/>
                </a:lnTo>
                <a:lnTo>
                  <a:pt x="732212" y="732212"/>
                </a:lnTo>
                <a:lnTo>
                  <a:pt x="0" y="73221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5082452" y="3172444"/>
            <a:ext cx="732212" cy="732212"/>
          </a:xfrm>
          <a:custGeom>
            <a:avLst/>
            <a:gdLst/>
            <a:ahLst/>
            <a:cxnLst/>
            <a:rect r="r" b="b" t="t" l="l"/>
            <a:pathLst>
              <a:path h="732212" w="732212">
                <a:moveTo>
                  <a:pt x="0" y="0"/>
                </a:moveTo>
                <a:lnTo>
                  <a:pt x="732212" y="0"/>
                </a:lnTo>
                <a:lnTo>
                  <a:pt x="732212" y="732212"/>
                </a:lnTo>
                <a:lnTo>
                  <a:pt x="0" y="73221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0480779" y="3155506"/>
            <a:ext cx="732212" cy="732212"/>
          </a:xfrm>
          <a:custGeom>
            <a:avLst/>
            <a:gdLst/>
            <a:ahLst/>
            <a:cxnLst/>
            <a:rect r="r" b="b" t="t" l="l"/>
            <a:pathLst>
              <a:path h="732212" w="732212">
                <a:moveTo>
                  <a:pt x="0" y="0"/>
                </a:moveTo>
                <a:lnTo>
                  <a:pt x="732212" y="0"/>
                </a:lnTo>
                <a:lnTo>
                  <a:pt x="732212" y="732212"/>
                </a:lnTo>
                <a:lnTo>
                  <a:pt x="0" y="73221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5772006" y="3155506"/>
            <a:ext cx="732212" cy="732212"/>
          </a:xfrm>
          <a:custGeom>
            <a:avLst/>
            <a:gdLst/>
            <a:ahLst/>
            <a:cxnLst/>
            <a:rect r="r" b="b" t="t" l="l"/>
            <a:pathLst>
              <a:path h="732212" w="732212">
                <a:moveTo>
                  <a:pt x="0" y="0"/>
                </a:moveTo>
                <a:lnTo>
                  <a:pt x="732212" y="0"/>
                </a:lnTo>
                <a:lnTo>
                  <a:pt x="732212" y="732212"/>
                </a:lnTo>
                <a:lnTo>
                  <a:pt x="0" y="73221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0464813" y="6546653"/>
            <a:ext cx="732212" cy="732212"/>
          </a:xfrm>
          <a:custGeom>
            <a:avLst/>
            <a:gdLst/>
            <a:ahLst/>
            <a:cxnLst/>
            <a:rect r="r" b="b" t="t" l="l"/>
            <a:pathLst>
              <a:path h="732212" w="732212">
                <a:moveTo>
                  <a:pt x="0" y="0"/>
                </a:moveTo>
                <a:lnTo>
                  <a:pt x="732212" y="0"/>
                </a:lnTo>
                <a:lnTo>
                  <a:pt x="732212" y="732212"/>
                </a:lnTo>
                <a:lnTo>
                  <a:pt x="0" y="73221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5772006" y="6546653"/>
            <a:ext cx="732212" cy="732212"/>
          </a:xfrm>
          <a:custGeom>
            <a:avLst/>
            <a:gdLst/>
            <a:ahLst/>
            <a:cxnLst/>
            <a:rect r="r" b="b" t="t" l="l"/>
            <a:pathLst>
              <a:path h="732212" w="732212">
                <a:moveTo>
                  <a:pt x="0" y="0"/>
                </a:moveTo>
                <a:lnTo>
                  <a:pt x="732212" y="0"/>
                </a:lnTo>
                <a:lnTo>
                  <a:pt x="732212" y="732212"/>
                </a:lnTo>
                <a:lnTo>
                  <a:pt x="0" y="73221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362177" y="199455"/>
            <a:ext cx="2767364" cy="1089073"/>
          </a:xfrm>
          <a:custGeom>
            <a:avLst/>
            <a:gdLst/>
            <a:ahLst/>
            <a:cxnLst/>
            <a:rect r="r" b="b" t="t" l="l"/>
            <a:pathLst>
              <a:path h="1089073" w="2767364">
                <a:moveTo>
                  <a:pt x="0" y="0"/>
                </a:moveTo>
                <a:lnTo>
                  <a:pt x="2767365" y="0"/>
                </a:lnTo>
                <a:lnTo>
                  <a:pt x="2767365" y="1089073"/>
                </a:lnTo>
                <a:lnTo>
                  <a:pt x="0" y="108907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-75675" r="0" b="-78427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17529454" y="218012"/>
            <a:ext cx="526438" cy="396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  <a:spcBef>
                <a:spcPct val="0"/>
              </a:spcBef>
            </a:pPr>
            <a:r>
              <a:rPr lang="en-US" sz="2286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06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114473" y="866775"/>
            <a:ext cx="5800047" cy="1436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34"/>
              </a:lnSpc>
              <a:spcBef>
                <a:spcPct val="0"/>
              </a:spcBef>
            </a:pPr>
            <a:r>
              <a:rPr lang="en-US" sz="8382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Tools Used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4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0076" y="1580974"/>
            <a:ext cx="16811011" cy="7677326"/>
            <a:chOff x="0" y="0"/>
            <a:chExt cx="4427591" cy="20220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27591" cy="2022012"/>
            </a:xfrm>
            <a:custGeom>
              <a:avLst/>
              <a:gdLst/>
              <a:ahLst/>
              <a:cxnLst/>
              <a:rect r="r" b="b" t="t" l="l"/>
              <a:pathLst>
                <a:path h="2022012" w="4427591">
                  <a:moveTo>
                    <a:pt x="9211" y="0"/>
                  </a:moveTo>
                  <a:lnTo>
                    <a:pt x="4418381" y="0"/>
                  </a:lnTo>
                  <a:cubicBezTo>
                    <a:pt x="4420824" y="0"/>
                    <a:pt x="4423166" y="970"/>
                    <a:pt x="4424894" y="2698"/>
                  </a:cubicBezTo>
                  <a:cubicBezTo>
                    <a:pt x="4426621" y="4425"/>
                    <a:pt x="4427591" y="6768"/>
                    <a:pt x="4427591" y="9211"/>
                  </a:cubicBezTo>
                  <a:lnTo>
                    <a:pt x="4427591" y="2012801"/>
                  </a:lnTo>
                  <a:cubicBezTo>
                    <a:pt x="4427591" y="2015244"/>
                    <a:pt x="4426621" y="2017587"/>
                    <a:pt x="4424894" y="2019314"/>
                  </a:cubicBezTo>
                  <a:cubicBezTo>
                    <a:pt x="4423166" y="2021041"/>
                    <a:pt x="4420824" y="2022012"/>
                    <a:pt x="4418381" y="2022012"/>
                  </a:cubicBezTo>
                  <a:lnTo>
                    <a:pt x="9211" y="2022012"/>
                  </a:lnTo>
                  <a:cubicBezTo>
                    <a:pt x="6768" y="2022012"/>
                    <a:pt x="4425" y="2021041"/>
                    <a:pt x="2698" y="2019314"/>
                  </a:cubicBezTo>
                  <a:cubicBezTo>
                    <a:pt x="970" y="2017587"/>
                    <a:pt x="0" y="2015244"/>
                    <a:pt x="0" y="2012801"/>
                  </a:cubicBezTo>
                  <a:lnTo>
                    <a:pt x="0" y="9211"/>
                  </a:lnTo>
                  <a:cubicBezTo>
                    <a:pt x="0" y="6768"/>
                    <a:pt x="970" y="4425"/>
                    <a:pt x="2698" y="2698"/>
                  </a:cubicBezTo>
                  <a:cubicBezTo>
                    <a:pt x="4425" y="970"/>
                    <a:pt x="6768" y="0"/>
                    <a:pt x="9211" y="0"/>
                  </a:cubicBezTo>
                  <a:close/>
                </a:path>
              </a:pathLst>
            </a:custGeom>
            <a:solidFill>
              <a:srgbClr val="364C5D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427591" cy="2050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62177" y="199455"/>
            <a:ext cx="17693715" cy="1089073"/>
            <a:chOff x="0" y="0"/>
            <a:chExt cx="23591620" cy="1452098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22889702" y="40618"/>
              <a:ext cx="701918" cy="5122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00"/>
                </a:lnSpc>
                <a:spcBef>
                  <a:spcPct val="0"/>
                </a:spcBef>
              </a:pPr>
              <a:r>
                <a:rPr lang="en-US" sz="2286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07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89819" cy="1452098"/>
            </a:xfrm>
            <a:custGeom>
              <a:avLst/>
              <a:gdLst/>
              <a:ahLst/>
              <a:cxnLst/>
              <a:rect r="r" b="b" t="t" l="l"/>
              <a:pathLst>
                <a:path h="1452098" w="3689819">
                  <a:moveTo>
                    <a:pt x="0" y="0"/>
                  </a:moveTo>
                  <a:lnTo>
                    <a:pt x="3689819" y="0"/>
                  </a:lnTo>
                  <a:lnTo>
                    <a:pt x="3689819" y="1452098"/>
                  </a:lnTo>
                  <a:lnTo>
                    <a:pt x="0" y="14520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5675" r="0" b="-78427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75883" y="1848646"/>
            <a:ext cx="15983417" cy="768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4"/>
              </a:lnSpc>
              <a:spcBef>
                <a:spcPct val="0"/>
              </a:spcBef>
            </a:pPr>
            <a:r>
              <a:rPr lang="en-US" sz="4495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💡 Data Exploration Findings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63205" y="3207758"/>
            <a:ext cx="486796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DE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Main Preprocessing Steps</a:t>
            </a:r>
            <a:r>
              <a:rPr lang="en-US" b="true" sz="2799">
                <a:solidFill>
                  <a:srgbClr val="FFDE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: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63205" y="3837678"/>
            <a:ext cx="15819830" cy="883920"/>
            <a:chOff x="0" y="0"/>
            <a:chExt cx="21093107" cy="11785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80228"/>
              <a:ext cx="463332" cy="463332"/>
            </a:xfrm>
            <a:custGeom>
              <a:avLst/>
              <a:gdLst/>
              <a:ahLst/>
              <a:cxnLst/>
              <a:rect r="r" b="b" t="t" l="l"/>
              <a:pathLst>
                <a:path h="463332" w="463332">
                  <a:moveTo>
                    <a:pt x="0" y="0"/>
                  </a:moveTo>
                  <a:lnTo>
                    <a:pt x="463332" y="0"/>
                  </a:lnTo>
                  <a:lnTo>
                    <a:pt x="463332" y="463332"/>
                  </a:lnTo>
                  <a:lnTo>
                    <a:pt x="0" y="46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620034" y="-47625"/>
              <a:ext cx="20473073" cy="1226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79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Cleaned &amp; standardized text/categorical features (labels unified, rare categories → “other”)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26791" y="7836260"/>
            <a:ext cx="10482023" cy="414174"/>
            <a:chOff x="0" y="0"/>
            <a:chExt cx="13976031" cy="5522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88900"/>
              <a:ext cx="463332" cy="463332"/>
            </a:xfrm>
            <a:custGeom>
              <a:avLst/>
              <a:gdLst/>
              <a:ahLst/>
              <a:cxnLst/>
              <a:rect r="r" b="b" t="t" l="l"/>
              <a:pathLst>
                <a:path h="463332" w="463332">
                  <a:moveTo>
                    <a:pt x="0" y="0"/>
                  </a:moveTo>
                  <a:lnTo>
                    <a:pt x="463332" y="0"/>
                  </a:lnTo>
                  <a:lnTo>
                    <a:pt x="463332" y="463332"/>
                  </a:lnTo>
                  <a:lnTo>
                    <a:pt x="0" y="46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738910" y="-47625"/>
              <a:ext cx="13237121" cy="591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79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Final cleaned file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188127" y="7088230"/>
            <a:ext cx="240905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DE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Key</a:t>
            </a:r>
            <a:r>
              <a:rPr lang="en-US" b="true" sz="2799">
                <a:solidFill>
                  <a:srgbClr val="FFDE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Results: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63205" y="4721598"/>
            <a:ext cx="15819830" cy="407670"/>
            <a:chOff x="0" y="0"/>
            <a:chExt cx="21093107" cy="5435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80228"/>
              <a:ext cx="463332" cy="463332"/>
            </a:xfrm>
            <a:custGeom>
              <a:avLst/>
              <a:gdLst/>
              <a:ahLst/>
              <a:cxnLst/>
              <a:rect r="r" b="b" t="t" l="l"/>
              <a:pathLst>
                <a:path h="463332" w="463332">
                  <a:moveTo>
                    <a:pt x="0" y="0"/>
                  </a:moveTo>
                  <a:lnTo>
                    <a:pt x="463332" y="0"/>
                  </a:lnTo>
                  <a:lnTo>
                    <a:pt x="463332" y="463332"/>
                  </a:lnTo>
                  <a:lnTo>
                    <a:pt x="0" y="46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620034" y="-47625"/>
              <a:ext cx="20473073" cy="591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79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Scaled main numeric features</a:t>
              </a:r>
              <a:r>
                <a:rPr lang="en-US" sz="2700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 to [0, 1] and kept meaningful outliers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88127" y="5281668"/>
            <a:ext cx="15819830" cy="883920"/>
            <a:chOff x="0" y="0"/>
            <a:chExt cx="21093107" cy="11785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80228"/>
              <a:ext cx="463332" cy="463332"/>
            </a:xfrm>
            <a:custGeom>
              <a:avLst/>
              <a:gdLst/>
              <a:ahLst/>
              <a:cxnLst/>
              <a:rect r="r" b="b" t="t" l="l"/>
              <a:pathLst>
                <a:path h="463332" w="463332">
                  <a:moveTo>
                    <a:pt x="0" y="0"/>
                  </a:moveTo>
                  <a:lnTo>
                    <a:pt x="463332" y="0"/>
                  </a:lnTo>
                  <a:lnTo>
                    <a:pt x="463332" y="463332"/>
                  </a:lnTo>
                  <a:lnTo>
                    <a:pt x="0" y="46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620034" y="-47625"/>
              <a:ext cx="20473073" cy="1226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79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Extracted time features from Last_Maintenance_Date  (service year/month/day, days since last service, recent service flag).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63205" y="6317988"/>
            <a:ext cx="15819830" cy="407670"/>
            <a:chOff x="0" y="0"/>
            <a:chExt cx="21093107" cy="5435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80228"/>
              <a:ext cx="463332" cy="463332"/>
            </a:xfrm>
            <a:custGeom>
              <a:avLst/>
              <a:gdLst/>
              <a:ahLst/>
              <a:cxnLst/>
              <a:rect r="r" b="b" t="t" l="l"/>
              <a:pathLst>
                <a:path h="463332" w="463332">
                  <a:moveTo>
                    <a:pt x="0" y="0"/>
                  </a:moveTo>
                  <a:lnTo>
                    <a:pt x="463332" y="0"/>
                  </a:lnTo>
                  <a:lnTo>
                    <a:pt x="463332" y="463332"/>
                  </a:lnTo>
                  <a:lnTo>
                    <a:pt x="0" y="46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620034" y="-47625"/>
              <a:ext cx="20473073" cy="591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79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Engineered</a:t>
              </a:r>
              <a:r>
                <a:rPr lang="en-US" sz="2700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 Load_Utilization = Actual_Load / Load_Capacity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4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0076" y="1580974"/>
            <a:ext cx="16811011" cy="7677326"/>
            <a:chOff x="0" y="0"/>
            <a:chExt cx="4427591" cy="20220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27591" cy="2022012"/>
            </a:xfrm>
            <a:custGeom>
              <a:avLst/>
              <a:gdLst/>
              <a:ahLst/>
              <a:cxnLst/>
              <a:rect r="r" b="b" t="t" l="l"/>
              <a:pathLst>
                <a:path h="2022012" w="4427591">
                  <a:moveTo>
                    <a:pt x="9211" y="0"/>
                  </a:moveTo>
                  <a:lnTo>
                    <a:pt x="4418381" y="0"/>
                  </a:lnTo>
                  <a:cubicBezTo>
                    <a:pt x="4420824" y="0"/>
                    <a:pt x="4423166" y="970"/>
                    <a:pt x="4424894" y="2698"/>
                  </a:cubicBezTo>
                  <a:cubicBezTo>
                    <a:pt x="4426621" y="4425"/>
                    <a:pt x="4427591" y="6768"/>
                    <a:pt x="4427591" y="9211"/>
                  </a:cubicBezTo>
                  <a:lnTo>
                    <a:pt x="4427591" y="2012801"/>
                  </a:lnTo>
                  <a:cubicBezTo>
                    <a:pt x="4427591" y="2015244"/>
                    <a:pt x="4426621" y="2017587"/>
                    <a:pt x="4424894" y="2019314"/>
                  </a:cubicBezTo>
                  <a:cubicBezTo>
                    <a:pt x="4423166" y="2021041"/>
                    <a:pt x="4420824" y="2022012"/>
                    <a:pt x="4418381" y="2022012"/>
                  </a:cubicBezTo>
                  <a:lnTo>
                    <a:pt x="9211" y="2022012"/>
                  </a:lnTo>
                  <a:cubicBezTo>
                    <a:pt x="6768" y="2022012"/>
                    <a:pt x="4425" y="2021041"/>
                    <a:pt x="2698" y="2019314"/>
                  </a:cubicBezTo>
                  <a:cubicBezTo>
                    <a:pt x="970" y="2017587"/>
                    <a:pt x="0" y="2015244"/>
                    <a:pt x="0" y="2012801"/>
                  </a:cubicBezTo>
                  <a:lnTo>
                    <a:pt x="0" y="9211"/>
                  </a:lnTo>
                  <a:cubicBezTo>
                    <a:pt x="0" y="6768"/>
                    <a:pt x="970" y="4425"/>
                    <a:pt x="2698" y="2698"/>
                  </a:cubicBezTo>
                  <a:cubicBezTo>
                    <a:pt x="4425" y="970"/>
                    <a:pt x="6768" y="0"/>
                    <a:pt x="9211" y="0"/>
                  </a:cubicBezTo>
                  <a:close/>
                </a:path>
              </a:pathLst>
            </a:custGeom>
            <a:solidFill>
              <a:srgbClr val="364C5D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427591" cy="2050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62177" y="199455"/>
            <a:ext cx="17693715" cy="1089073"/>
            <a:chOff x="0" y="0"/>
            <a:chExt cx="23591620" cy="1452098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22889702" y="40618"/>
              <a:ext cx="701918" cy="5122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00"/>
                </a:lnSpc>
                <a:spcBef>
                  <a:spcPct val="0"/>
                </a:spcBef>
              </a:pPr>
              <a:r>
                <a:rPr lang="en-US" sz="2286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08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89819" cy="1452098"/>
            </a:xfrm>
            <a:custGeom>
              <a:avLst/>
              <a:gdLst/>
              <a:ahLst/>
              <a:cxnLst/>
              <a:rect r="r" b="b" t="t" l="l"/>
              <a:pathLst>
                <a:path h="1452098" w="3689819">
                  <a:moveTo>
                    <a:pt x="0" y="0"/>
                  </a:moveTo>
                  <a:lnTo>
                    <a:pt x="3689819" y="0"/>
                  </a:lnTo>
                  <a:lnTo>
                    <a:pt x="3689819" y="1452098"/>
                  </a:lnTo>
                  <a:lnTo>
                    <a:pt x="0" y="14520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5675" r="0" b="-7842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622881" y="6372183"/>
            <a:ext cx="12128671" cy="2529626"/>
            <a:chOff x="0" y="0"/>
            <a:chExt cx="3194382" cy="66623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94383" cy="666239"/>
            </a:xfrm>
            <a:custGeom>
              <a:avLst/>
              <a:gdLst/>
              <a:ahLst/>
              <a:cxnLst/>
              <a:rect r="r" b="b" t="t" l="l"/>
              <a:pathLst>
                <a:path h="666239" w="3194383">
                  <a:moveTo>
                    <a:pt x="12766" y="0"/>
                  </a:moveTo>
                  <a:lnTo>
                    <a:pt x="3181616" y="0"/>
                  </a:lnTo>
                  <a:cubicBezTo>
                    <a:pt x="3188667" y="0"/>
                    <a:pt x="3194383" y="5716"/>
                    <a:pt x="3194383" y="12766"/>
                  </a:cubicBezTo>
                  <a:lnTo>
                    <a:pt x="3194383" y="653473"/>
                  </a:lnTo>
                  <a:cubicBezTo>
                    <a:pt x="3194383" y="656859"/>
                    <a:pt x="3193037" y="660106"/>
                    <a:pt x="3190643" y="662500"/>
                  </a:cubicBezTo>
                  <a:cubicBezTo>
                    <a:pt x="3188249" y="664894"/>
                    <a:pt x="3185002" y="666239"/>
                    <a:pt x="3181616" y="666239"/>
                  </a:cubicBezTo>
                  <a:lnTo>
                    <a:pt x="12766" y="666239"/>
                  </a:lnTo>
                  <a:cubicBezTo>
                    <a:pt x="5716" y="666239"/>
                    <a:pt x="0" y="660523"/>
                    <a:pt x="0" y="653473"/>
                  </a:cubicBezTo>
                  <a:lnTo>
                    <a:pt x="0" y="12766"/>
                  </a:lnTo>
                  <a:cubicBezTo>
                    <a:pt x="0" y="5716"/>
                    <a:pt x="5716" y="0"/>
                    <a:pt x="12766" y="0"/>
                  </a:cubicBezTo>
                  <a:close/>
                </a:path>
              </a:pathLst>
            </a:custGeom>
            <a:solidFill>
              <a:srgbClr val="66879A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3194382" cy="694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052933" y="6575796"/>
            <a:ext cx="11131315" cy="2134200"/>
          </a:xfrm>
          <a:custGeom>
            <a:avLst/>
            <a:gdLst/>
            <a:ahLst/>
            <a:cxnLst/>
            <a:rect r="r" b="b" t="t" l="l"/>
            <a:pathLst>
              <a:path h="2134200" w="11131315">
                <a:moveTo>
                  <a:pt x="0" y="0"/>
                </a:moveTo>
                <a:lnTo>
                  <a:pt x="11131315" y="0"/>
                </a:lnTo>
                <a:lnTo>
                  <a:pt x="11131315" y="2134200"/>
                </a:lnTo>
                <a:lnTo>
                  <a:pt x="0" y="2134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75883" y="1848646"/>
            <a:ext cx="10208784" cy="768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4"/>
              </a:lnSpc>
              <a:spcBef>
                <a:spcPct val="0"/>
              </a:spcBef>
            </a:pPr>
            <a:r>
              <a:rPr lang="en-US" sz="4495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💡Supervised Learning Findings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5883" y="2978456"/>
            <a:ext cx="269399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DE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Model</a:t>
            </a:r>
            <a:r>
              <a:rPr lang="en-US" b="true" sz="2799">
                <a:solidFill>
                  <a:srgbClr val="FFDE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 Tested: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275883" y="3993207"/>
            <a:ext cx="347499" cy="347499"/>
          </a:xfrm>
          <a:custGeom>
            <a:avLst/>
            <a:gdLst/>
            <a:ahLst/>
            <a:cxnLst/>
            <a:rect r="r" b="b" t="t" l="l"/>
            <a:pathLst>
              <a:path h="347499" w="347499">
                <a:moveTo>
                  <a:pt x="0" y="0"/>
                </a:moveTo>
                <a:lnTo>
                  <a:pt x="347499" y="0"/>
                </a:lnTo>
                <a:lnTo>
                  <a:pt x="347499" y="347499"/>
                </a:lnTo>
                <a:lnTo>
                  <a:pt x="0" y="3474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740909" y="3945582"/>
            <a:ext cx="4639366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Gradient Boosting (GBDT)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304615" y="4874127"/>
            <a:ext cx="347499" cy="347499"/>
          </a:xfrm>
          <a:custGeom>
            <a:avLst/>
            <a:gdLst/>
            <a:ahLst/>
            <a:cxnLst/>
            <a:rect r="r" b="b" t="t" l="l"/>
            <a:pathLst>
              <a:path h="347499" w="347499">
                <a:moveTo>
                  <a:pt x="0" y="0"/>
                </a:moveTo>
                <a:lnTo>
                  <a:pt x="347499" y="0"/>
                </a:lnTo>
                <a:lnTo>
                  <a:pt x="347499" y="347499"/>
                </a:lnTo>
                <a:lnTo>
                  <a:pt x="0" y="3474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769641" y="4766331"/>
            <a:ext cx="2948198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Random Forest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515826" y="3812211"/>
            <a:ext cx="9604810" cy="883920"/>
            <a:chOff x="0" y="0"/>
            <a:chExt cx="12806413" cy="11785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88900"/>
              <a:ext cx="463332" cy="463332"/>
            </a:xfrm>
            <a:custGeom>
              <a:avLst/>
              <a:gdLst/>
              <a:ahLst/>
              <a:cxnLst/>
              <a:rect r="r" b="b" t="t" l="l"/>
              <a:pathLst>
                <a:path h="463332" w="463332">
                  <a:moveTo>
                    <a:pt x="0" y="0"/>
                  </a:moveTo>
                  <a:lnTo>
                    <a:pt x="463332" y="0"/>
                  </a:lnTo>
                  <a:lnTo>
                    <a:pt x="463332" y="463332"/>
                  </a:lnTo>
                  <a:lnTo>
                    <a:pt x="0" y="46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738910" y="-47625"/>
              <a:ext cx="12067503" cy="1226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79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Both models achieved near perfect performance on all metrics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7515826" y="2978456"/>
            <a:ext cx="275318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DE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Key</a:t>
            </a:r>
            <a:r>
              <a:rPr lang="en-US" b="true" sz="2799">
                <a:solidFill>
                  <a:srgbClr val="FFDE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Results: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515826" y="5044176"/>
            <a:ext cx="9419584" cy="883920"/>
            <a:chOff x="0" y="0"/>
            <a:chExt cx="12559445" cy="11785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63332" cy="463332"/>
            </a:xfrm>
            <a:custGeom>
              <a:avLst/>
              <a:gdLst/>
              <a:ahLst/>
              <a:cxnLst/>
              <a:rect r="r" b="b" t="t" l="l"/>
              <a:pathLst>
                <a:path h="463332" w="463332">
                  <a:moveTo>
                    <a:pt x="0" y="0"/>
                  </a:moveTo>
                  <a:lnTo>
                    <a:pt x="463332" y="0"/>
                  </a:lnTo>
                  <a:lnTo>
                    <a:pt x="463332" y="463332"/>
                  </a:lnTo>
                  <a:lnTo>
                    <a:pt x="0" y="46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738910" y="-47625"/>
              <a:ext cx="11820536" cy="1226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79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GBDT selected as the final predictive model due to flawless classification and strong generalization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4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0076" y="1580974"/>
            <a:ext cx="16811011" cy="7677326"/>
            <a:chOff x="0" y="0"/>
            <a:chExt cx="4427591" cy="20220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27591" cy="2022012"/>
            </a:xfrm>
            <a:custGeom>
              <a:avLst/>
              <a:gdLst/>
              <a:ahLst/>
              <a:cxnLst/>
              <a:rect r="r" b="b" t="t" l="l"/>
              <a:pathLst>
                <a:path h="2022012" w="4427591">
                  <a:moveTo>
                    <a:pt x="9211" y="0"/>
                  </a:moveTo>
                  <a:lnTo>
                    <a:pt x="4418381" y="0"/>
                  </a:lnTo>
                  <a:cubicBezTo>
                    <a:pt x="4420824" y="0"/>
                    <a:pt x="4423166" y="970"/>
                    <a:pt x="4424894" y="2698"/>
                  </a:cubicBezTo>
                  <a:cubicBezTo>
                    <a:pt x="4426621" y="4425"/>
                    <a:pt x="4427591" y="6768"/>
                    <a:pt x="4427591" y="9211"/>
                  </a:cubicBezTo>
                  <a:lnTo>
                    <a:pt x="4427591" y="2012801"/>
                  </a:lnTo>
                  <a:cubicBezTo>
                    <a:pt x="4427591" y="2015244"/>
                    <a:pt x="4426621" y="2017587"/>
                    <a:pt x="4424894" y="2019314"/>
                  </a:cubicBezTo>
                  <a:cubicBezTo>
                    <a:pt x="4423166" y="2021041"/>
                    <a:pt x="4420824" y="2022012"/>
                    <a:pt x="4418381" y="2022012"/>
                  </a:cubicBezTo>
                  <a:lnTo>
                    <a:pt x="9211" y="2022012"/>
                  </a:lnTo>
                  <a:cubicBezTo>
                    <a:pt x="6768" y="2022012"/>
                    <a:pt x="4425" y="2021041"/>
                    <a:pt x="2698" y="2019314"/>
                  </a:cubicBezTo>
                  <a:cubicBezTo>
                    <a:pt x="970" y="2017587"/>
                    <a:pt x="0" y="2015244"/>
                    <a:pt x="0" y="2012801"/>
                  </a:cubicBezTo>
                  <a:lnTo>
                    <a:pt x="0" y="9211"/>
                  </a:lnTo>
                  <a:cubicBezTo>
                    <a:pt x="0" y="6768"/>
                    <a:pt x="970" y="4425"/>
                    <a:pt x="2698" y="2698"/>
                  </a:cubicBezTo>
                  <a:cubicBezTo>
                    <a:pt x="4425" y="970"/>
                    <a:pt x="6768" y="0"/>
                    <a:pt x="9211" y="0"/>
                  </a:cubicBezTo>
                  <a:close/>
                </a:path>
              </a:pathLst>
            </a:custGeom>
            <a:solidFill>
              <a:srgbClr val="364C5D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427591" cy="2050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62177" y="199455"/>
            <a:ext cx="17693715" cy="1089073"/>
            <a:chOff x="0" y="0"/>
            <a:chExt cx="23591620" cy="1452098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22889702" y="40618"/>
              <a:ext cx="701918" cy="5122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00"/>
                </a:lnSpc>
                <a:spcBef>
                  <a:spcPct val="0"/>
                </a:spcBef>
              </a:pPr>
              <a:r>
                <a:rPr lang="en-US" sz="2286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09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89819" cy="1452098"/>
            </a:xfrm>
            <a:custGeom>
              <a:avLst/>
              <a:gdLst/>
              <a:ahLst/>
              <a:cxnLst/>
              <a:rect r="r" b="b" t="t" l="l"/>
              <a:pathLst>
                <a:path h="1452098" w="3689819">
                  <a:moveTo>
                    <a:pt x="0" y="0"/>
                  </a:moveTo>
                  <a:lnTo>
                    <a:pt x="3689819" y="0"/>
                  </a:lnTo>
                  <a:lnTo>
                    <a:pt x="3689819" y="1452098"/>
                  </a:lnTo>
                  <a:lnTo>
                    <a:pt x="0" y="14520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5675" r="0" b="-7842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5883" y="4535717"/>
            <a:ext cx="4625820" cy="407670"/>
            <a:chOff x="0" y="0"/>
            <a:chExt cx="6167760" cy="5435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80228"/>
              <a:ext cx="463332" cy="463332"/>
            </a:xfrm>
            <a:custGeom>
              <a:avLst/>
              <a:gdLst/>
              <a:ahLst/>
              <a:cxnLst/>
              <a:rect r="r" b="b" t="t" l="l"/>
              <a:pathLst>
                <a:path h="463332" w="463332">
                  <a:moveTo>
                    <a:pt x="0" y="0"/>
                  </a:moveTo>
                  <a:lnTo>
                    <a:pt x="463332" y="0"/>
                  </a:lnTo>
                  <a:lnTo>
                    <a:pt x="463332" y="463332"/>
                  </a:lnTo>
                  <a:lnTo>
                    <a:pt x="0" y="46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620034" y="-47625"/>
              <a:ext cx="5547726" cy="591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79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K-Means Clustering 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75883" y="1848646"/>
            <a:ext cx="12366651" cy="768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4"/>
              </a:lnSpc>
              <a:spcBef>
                <a:spcPct val="0"/>
              </a:spcBef>
            </a:pPr>
            <a:r>
              <a:rPr lang="en-US" sz="4495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💡Unsupervised Learning Findings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92106" y="3569006"/>
            <a:ext cx="269842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DE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Key</a:t>
            </a:r>
            <a:r>
              <a:rPr lang="en-US" b="true" sz="2799">
                <a:solidFill>
                  <a:srgbClr val="FFDE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Results: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5883" y="3569006"/>
            <a:ext cx="269399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DE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Method Used</a:t>
            </a:r>
            <a:r>
              <a:rPr lang="en-US" b="true" sz="2799">
                <a:solidFill>
                  <a:srgbClr val="FFDE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: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706525" y="4342500"/>
            <a:ext cx="9419584" cy="1836420"/>
            <a:chOff x="0" y="0"/>
            <a:chExt cx="12559445" cy="24485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3332" cy="463332"/>
            </a:xfrm>
            <a:custGeom>
              <a:avLst/>
              <a:gdLst/>
              <a:ahLst/>
              <a:cxnLst/>
              <a:rect r="r" b="b" t="t" l="l"/>
              <a:pathLst>
                <a:path h="463332" w="463332">
                  <a:moveTo>
                    <a:pt x="0" y="0"/>
                  </a:moveTo>
                  <a:lnTo>
                    <a:pt x="463332" y="0"/>
                  </a:lnTo>
                  <a:lnTo>
                    <a:pt x="463332" y="463332"/>
                  </a:lnTo>
                  <a:lnTo>
                    <a:pt x="0" y="46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738910" y="-47625"/>
              <a:ext cx="11820536" cy="2496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2700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K-Means was applied after removing the class label to explore natural group patterns in the fleet.</a:t>
              </a:r>
            </a:p>
            <a:p>
              <a:pPr algn="l">
                <a:lnSpc>
                  <a:spcPts val="37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706525" y="5736960"/>
            <a:ext cx="9419584" cy="883920"/>
            <a:chOff x="0" y="0"/>
            <a:chExt cx="12559445" cy="11785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63332" cy="463332"/>
            </a:xfrm>
            <a:custGeom>
              <a:avLst/>
              <a:gdLst/>
              <a:ahLst/>
              <a:cxnLst/>
              <a:rect r="r" b="b" t="t" l="l"/>
              <a:pathLst>
                <a:path h="463332" w="463332">
                  <a:moveTo>
                    <a:pt x="0" y="0"/>
                  </a:moveTo>
                  <a:lnTo>
                    <a:pt x="463332" y="0"/>
                  </a:lnTo>
                  <a:lnTo>
                    <a:pt x="463332" y="463332"/>
                  </a:lnTo>
                  <a:lnTo>
                    <a:pt x="0" y="46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738910" y="-47625"/>
              <a:ext cx="11820536" cy="1226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2700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K = 10 was selected based on the Elbow and Silhouette evaluation trends.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706525" y="6905537"/>
            <a:ext cx="9419584" cy="1360170"/>
            <a:chOff x="0" y="0"/>
            <a:chExt cx="12559445" cy="18135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63332" cy="463332"/>
            </a:xfrm>
            <a:custGeom>
              <a:avLst/>
              <a:gdLst/>
              <a:ahLst/>
              <a:cxnLst/>
              <a:rect r="r" b="b" t="t" l="l"/>
              <a:pathLst>
                <a:path h="463332" w="463332">
                  <a:moveTo>
                    <a:pt x="0" y="0"/>
                  </a:moveTo>
                  <a:lnTo>
                    <a:pt x="463332" y="0"/>
                  </a:lnTo>
                  <a:lnTo>
                    <a:pt x="463332" y="463332"/>
                  </a:lnTo>
                  <a:lnTo>
                    <a:pt x="0" y="46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738910" y="-47625"/>
              <a:ext cx="11820536" cy="1861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79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The resulting clusters reflect different operational and maintenance usage behaviors across vehicles.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4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0076" y="1580974"/>
            <a:ext cx="16811011" cy="7677326"/>
            <a:chOff x="0" y="0"/>
            <a:chExt cx="4427591" cy="20220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27591" cy="2022012"/>
            </a:xfrm>
            <a:custGeom>
              <a:avLst/>
              <a:gdLst/>
              <a:ahLst/>
              <a:cxnLst/>
              <a:rect r="r" b="b" t="t" l="l"/>
              <a:pathLst>
                <a:path h="2022012" w="4427591">
                  <a:moveTo>
                    <a:pt x="9211" y="0"/>
                  </a:moveTo>
                  <a:lnTo>
                    <a:pt x="4418381" y="0"/>
                  </a:lnTo>
                  <a:cubicBezTo>
                    <a:pt x="4420824" y="0"/>
                    <a:pt x="4423166" y="970"/>
                    <a:pt x="4424894" y="2698"/>
                  </a:cubicBezTo>
                  <a:cubicBezTo>
                    <a:pt x="4426621" y="4425"/>
                    <a:pt x="4427591" y="6768"/>
                    <a:pt x="4427591" y="9211"/>
                  </a:cubicBezTo>
                  <a:lnTo>
                    <a:pt x="4427591" y="2012801"/>
                  </a:lnTo>
                  <a:cubicBezTo>
                    <a:pt x="4427591" y="2015244"/>
                    <a:pt x="4426621" y="2017587"/>
                    <a:pt x="4424894" y="2019314"/>
                  </a:cubicBezTo>
                  <a:cubicBezTo>
                    <a:pt x="4423166" y="2021041"/>
                    <a:pt x="4420824" y="2022012"/>
                    <a:pt x="4418381" y="2022012"/>
                  </a:cubicBezTo>
                  <a:lnTo>
                    <a:pt x="9211" y="2022012"/>
                  </a:lnTo>
                  <a:cubicBezTo>
                    <a:pt x="6768" y="2022012"/>
                    <a:pt x="4425" y="2021041"/>
                    <a:pt x="2698" y="2019314"/>
                  </a:cubicBezTo>
                  <a:cubicBezTo>
                    <a:pt x="970" y="2017587"/>
                    <a:pt x="0" y="2015244"/>
                    <a:pt x="0" y="2012801"/>
                  </a:cubicBezTo>
                  <a:lnTo>
                    <a:pt x="0" y="9211"/>
                  </a:lnTo>
                  <a:cubicBezTo>
                    <a:pt x="0" y="6768"/>
                    <a:pt x="970" y="4425"/>
                    <a:pt x="2698" y="2698"/>
                  </a:cubicBezTo>
                  <a:cubicBezTo>
                    <a:pt x="4425" y="970"/>
                    <a:pt x="6768" y="0"/>
                    <a:pt x="9211" y="0"/>
                  </a:cubicBezTo>
                  <a:close/>
                </a:path>
              </a:pathLst>
            </a:custGeom>
            <a:solidFill>
              <a:srgbClr val="364C5D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427591" cy="2050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62177" y="199455"/>
            <a:ext cx="17693715" cy="1089073"/>
            <a:chOff x="0" y="0"/>
            <a:chExt cx="23591620" cy="1452098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22889702" y="40618"/>
              <a:ext cx="701918" cy="5122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00"/>
                </a:lnSpc>
                <a:spcBef>
                  <a:spcPct val="0"/>
                </a:spcBef>
              </a:pPr>
              <a:r>
                <a:rPr lang="en-US" sz="2286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10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89819" cy="1452098"/>
            </a:xfrm>
            <a:custGeom>
              <a:avLst/>
              <a:gdLst/>
              <a:ahLst/>
              <a:cxnLst/>
              <a:rect r="r" b="b" t="t" l="l"/>
              <a:pathLst>
                <a:path h="1452098" w="3689819">
                  <a:moveTo>
                    <a:pt x="0" y="0"/>
                  </a:moveTo>
                  <a:lnTo>
                    <a:pt x="3689819" y="0"/>
                  </a:lnTo>
                  <a:lnTo>
                    <a:pt x="3689819" y="1452098"/>
                  </a:lnTo>
                  <a:lnTo>
                    <a:pt x="0" y="14520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5675" r="0" b="-78427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3580277"/>
            <a:ext cx="7512445" cy="4991776"/>
          </a:xfrm>
          <a:custGeom>
            <a:avLst/>
            <a:gdLst/>
            <a:ahLst/>
            <a:cxnLst/>
            <a:rect r="r" b="b" t="t" l="l"/>
            <a:pathLst>
              <a:path h="4991776" w="7512445">
                <a:moveTo>
                  <a:pt x="0" y="0"/>
                </a:moveTo>
                <a:lnTo>
                  <a:pt x="7512445" y="0"/>
                </a:lnTo>
                <a:lnTo>
                  <a:pt x="7512445" y="4991775"/>
                </a:lnTo>
                <a:lnTo>
                  <a:pt x="0" y="4991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421042" y="3580277"/>
            <a:ext cx="7445240" cy="4991776"/>
          </a:xfrm>
          <a:custGeom>
            <a:avLst/>
            <a:gdLst/>
            <a:ahLst/>
            <a:cxnLst/>
            <a:rect r="r" b="b" t="t" l="l"/>
            <a:pathLst>
              <a:path h="4991776" w="7445240">
                <a:moveTo>
                  <a:pt x="0" y="0"/>
                </a:moveTo>
                <a:lnTo>
                  <a:pt x="7445240" y="0"/>
                </a:lnTo>
                <a:lnTo>
                  <a:pt x="7445240" y="4991775"/>
                </a:lnTo>
                <a:lnTo>
                  <a:pt x="0" y="49917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56411" y="2049061"/>
            <a:ext cx="269842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DE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Key</a:t>
            </a:r>
            <a:r>
              <a:rPr lang="en-US" b="true" sz="2799">
                <a:solidFill>
                  <a:srgbClr val="FFDE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Results: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532188" y="2887976"/>
            <a:ext cx="281576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F3F3F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Elbow Method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26953" y="2887976"/>
            <a:ext cx="428414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F3F3F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Silhouette Score VS K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4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8495" y="1536001"/>
            <a:ext cx="16811011" cy="7677326"/>
            <a:chOff x="0" y="0"/>
            <a:chExt cx="4427591" cy="20220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27591" cy="2022012"/>
            </a:xfrm>
            <a:custGeom>
              <a:avLst/>
              <a:gdLst/>
              <a:ahLst/>
              <a:cxnLst/>
              <a:rect r="r" b="b" t="t" l="l"/>
              <a:pathLst>
                <a:path h="2022012" w="4427591">
                  <a:moveTo>
                    <a:pt x="9211" y="0"/>
                  </a:moveTo>
                  <a:lnTo>
                    <a:pt x="4418381" y="0"/>
                  </a:lnTo>
                  <a:cubicBezTo>
                    <a:pt x="4420824" y="0"/>
                    <a:pt x="4423166" y="970"/>
                    <a:pt x="4424894" y="2698"/>
                  </a:cubicBezTo>
                  <a:cubicBezTo>
                    <a:pt x="4426621" y="4425"/>
                    <a:pt x="4427591" y="6768"/>
                    <a:pt x="4427591" y="9211"/>
                  </a:cubicBezTo>
                  <a:lnTo>
                    <a:pt x="4427591" y="2012801"/>
                  </a:lnTo>
                  <a:cubicBezTo>
                    <a:pt x="4427591" y="2015244"/>
                    <a:pt x="4426621" y="2017587"/>
                    <a:pt x="4424894" y="2019314"/>
                  </a:cubicBezTo>
                  <a:cubicBezTo>
                    <a:pt x="4423166" y="2021041"/>
                    <a:pt x="4420824" y="2022012"/>
                    <a:pt x="4418381" y="2022012"/>
                  </a:cubicBezTo>
                  <a:lnTo>
                    <a:pt x="9211" y="2022012"/>
                  </a:lnTo>
                  <a:cubicBezTo>
                    <a:pt x="6768" y="2022012"/>
                    <a:pt x="4425" y="2021041"/>
                    <a:pt x="2698" y="2019314"/>
                  </a:cubicBezTo>
                  <a:cubicBezTo>
                    <a:pt x="970" y="2017587"/>
                    <a:pt x="0" y="2015244"/>
                    <a:pt x="0" y="2012801"/>
                  </a:cubicBezTo>
                  <a:lnTo>
                    <a:pt x="0" y="9211"/>
                  </a:lnTo>
                  <a:cubicBezTo>
                    <a:pt x="0" y="6768"/>
                    <a:pt x="970" y="4425"/>
                    <a:pt x="2698" y="2698"/>
                  </a:cubicBezTo>
                  <a:cubicBezTo>
                    <a:pt x="4425" y="970"/>
                    <a:pt x="6768" y="0"/>
                    <a:pt x="9211" y="0"/>
                  </a:cubicBezTo>
                  <a:close/>
                </a:path>
              </a:pathLst>
            </a:custGeom>
            <a:solidFill>
              <a:srgbClr val="364C5D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427591" cy="2050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62177" y="199455"/>
            <a:ext cx="17693715" cy="1089073"/>
            <a:chOff x="0" y="0"/>
            <a:chExt cx="23591620" cy="1452098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22889702" y="40618"/>
              <a:ext cx="701918" cy="5122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00"/>
                </a:lnSpc>
                <a:spcBef>
                  <a:spcPct val="0"/>
                </a:spcBef>
              </a:pPr>
              <a:r>
                <a:rPr lang="en-US" sz="2286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11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89819" cy="1452098"/>
            </a:xfrm>
            <a:custGeom>
              <a:avLst/>
              <a:gdLst/>
              <a:ahLst/>
              <a:cxnLst/>
              <a:rect r="r" b="b" t="t" l="l"/>
              <a:pathLst>
                <a:path h="1452098" w="3689819">
                  <a:moveTo>
                    <a:pt x="0" y="0"/>
                  </a:moveTo>
                  <a:lnTo>
                    <a:pt x="3689819" y="0"/>
                  </a:lnTo>
                  <a:lnTo>
                    <a:pt x="3689819" y="1452098"/>
                  </a:lnTo>
                  <a:lnTo>
                    <a:pt x="0" y="14520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5675" r="0" b="-7842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42026" y="6156350"/>
            <a:ext cx="15342635" cy="2777620"/>
            <a:chOff x="0" y="0"/>
            <a:chExt cx="4040859" cy="7315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40858" cy="731554"/>
            </a:xfrm>
            <a:custGeom>
              <a:avLst/>
              <a:gdLst/>
              <a:ahLst/>
              <a:cxnLst/>
              <a:rect r="r" b="b" t="t" l="l"/>
              <a:pathLst>
                <a:path h="731554" w="4040858">
                  <a:moveTo>
                    <a:pt x="10092" y="0"/>
                  </a:moveTo>
                  <a:lnTo>
                    <a:pt x="4030766" y="0"/>
                  </a:lnTo>
                  <a:cubicBezTo>
                    <a:pt x="4033443" y="0"/>
                    <a:pt x="4036010" y="1063"/>
                    <a:pt x="4037902" y="2956"/>
                  </a:cubicBezTo>
                  <a:cubicBezTo>
                    <a:pt x="4039795" y="4849"/>
                    <a:pt x="4040858" y="7415"/>
                    <a:pt x="4040858" y="10092"/>
                  </a:cubicBezTo>
                  <a:lnTo>
                    <a:pt x="4040858" y="721462"/>
                  </a:lnTo>
                  <a:cubicBezTo>
                    <a:pt x="4040858" y="727036"/>
                    <a:pt x="4036340" y="731554"/>
                    <a:pt x="4030766" y="731554"/>
                  </a:cubicBezTo>
                  <a:lnTo>
                    <a:pt x="10092" y="731554"/>
                  </a:lnTo>
                  <a:cubicBezTo>
                    <a:pt x="7415" y="731554"/>
                    <a:pt x="4849" y="730491"/>
                    <a:pt x="2956" y="728598"/>
                  </a:cubicBezTo>
                  <a:cubicBezTo>
                    <a:pt x="1063" y="726706"/>
                    <a:pt x="0" y="724139"/>
                    <a:pt x="0" y="721462"/>
                  </a:cubicBezTo>
                  <a:lnTo>
                    <a:pt x="0" y="10092"/>
                  </a:lnTo>
                  <a:cubicBezTo>
                    <a:pt x="0" y="7415"/>
                    <a:pt x="1063" y="4849"/>
                    <a:pt x="2956" y="2956"/>
                  </a:cubicBezTo>
                  <a:cubicBezTo>
                    <a:pt x="4849" y="1063"/>
                    <a:pt x="7415" y="0"/>
                    <a:pt x="10092" y="0"/>
                  </a:cubicBezTo>
                  <a:close/>
                </a:path>
              </a:pathLst>
            </a:custGeom>
            <a:solidFill>
              <a:srgbClr val="66879A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4040859" cy="7601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731111" y="6368364"/>
            <a:ext cx="14825778" cy="2353592"/>
          </a:xfrm>
          <a:custGeom>
            <a:avLst/>
            <a:gdLst/>
            <a:ahLst/>
            <a:cxnLst/>
            <a:rect r="r" b="b" t="t" l="l"/>
            <a:pathLst>
              <a:path h="2353592" w="14825778">
                <a:moveTo>
                  <a:pt x="0" y="0"/>
                </a:moveTo>
                <a:lnTo>
                  <a:pt x="14825778" y="0"/>
                </a:lnTo>
                <a:lnTo>
                  <a:pt x="14825778" y="2353592"/>
                </a:lnTo>
                <a:lnTo>
                  <a:pt x="0" y="23535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75883" y="1848646"/>
            <a:ext cx="11340615" cy="768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4"/>
              </a:lnSpc>
              <a:spcBef>
                <a:spcPct val="0"/>
              </a:spcBef>
            </a:pPr>
            <a:r>
              <a:rPr lang="en-US" sz="4495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💡Generative AI Integration Findings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5883" y="2978456"/>
            <a:ext cx="8487232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DE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Model</a:t>
            </a:r>
            <a:r>
              <a:rPr lang="en-US" b="true" sz="2799">
                <a:solidFill>
                  <a:srgbClr val="FFDE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 Used: </a:t>
            </a:r>
            <a:r>
              <a:rPr lang="en-US" sz="2799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TinyLlama-1.1B - Microsoft Phi-2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5883" y="3739619"/>
            <a:ext cx="220097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true">
                <a:solidFill>
                  <a:srgbClr val="FFDE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Templates: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79990" y="4360893"/>
            <a:ext cx="466620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Template A – Concise Advice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466903" y="4360893"/>
            <a:ext cx="459242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Template B – Detailed Advice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333599" y="4360893"/>
            <a:ext cx="278514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Template Hybrid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50639" y="4938419"/>
            <a:ext cx="4995552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Generates short and quick maintenance advice in 1–2 lines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393127" y="4938419"/>
            <a:ext cx="5223371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Provides structured, expert-level guidance with multiple sections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969445" y="4938419"/>
            <a:ext cx="351345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Balanced Prompt: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4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8495" y="1536001"/>
            <a:ext cx="16811011" cy="7677326"/>
            <a:chOff x="0" y="0"/>
            <a:chExt cx="4427591" cy="20220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27591" cy="2022012"/>
            </a:xfrm>
            <a:custGeom>
              <a:avLst/>
              <a:gdLst/>
              <a:ahLst/>
              <a:cxnLst/>
              <a:rect r="r" b="b" t="t" l="l"/>
              <a:pathLst>
                <a:path h="2022012" w="4427591">
                  <a:moveTo>
                    <a:pt x="9211" y="0"/>
                  </a:moveTo>
                  <a:lnTo>
                    <a:pt x="4418381" y="0"/>
                  </a:lnTo>
                  <a:cubicBezTo>
                    <a:pt x="4420824" y="0"/>
                    <a:pt x="4423166" y="970"/>
                    <a:pt x="4424894" y="2698"/>
                  </a:cubicBezTo>
                  <a:cubicBezTo>
                    <a:pt x="4426621" y="4425"/>
                    <a:pt x="4427591" y="6768"/>
                    <a:pt x="4427591" y="9211"/>
                  </a:cubicBezTo>
                  <a:lnTo>
                    <a:pt x="4427591" y="2012801"/>
                  </a:lnTo>
                  <a:cubicBezTo>
                    <a:pt x="4427591" y="2015244"/>
                    <a:pt x="4426621" y="2017587"/>
                    <a:pt x="4424894" y="2019314"/>
                  </a:cubicBezTo>
                  <a:cubicBezTo>
                    <a:pt x="4423166" y="2021041"/>
                    <a:pt x="4420824" y="2022012"/>
                    <a:pt x="4418381" y="2022012"/>
                  </a:cubicBezTo>
                  <a:lnTo>
                    <a:pt x="9211" y="2022012"/>
                  </a:lnTo>
                  <a:cubicBezTo>
                    <a:pt x="6768" y="2022012"/>
                    <a:pt x="4425" y="2021041"/>
                    <a:pt x="2698" y="2019314"/>
                  </a:cubicBezTo>
                  <a:cubicBezTo>
                    <a:pt x="970" y="2017587"/>
                    <a:pt x="0" y="2015244"/>
                    <a:pt x="0" y="2012801"/>
                  </a:cubicBezTo>
                  <a:lnTo>
                    <a:pt x="0" y="9211"/>
                  </a:lnTo>
                  <a:cubicBezTo>
                    <a:pt x="0" y="6768"/>
                    <a:pt x="970" y="4425"/>
                    <a:pt x="2698" y="2698"/>
                  </a:cubicBezTo>
                  <a:cubicBezTo>
                    <a:pt x="4425" y="970"/>
                    <a:pt x="6768" y="0"/>
                    <a:pt x="9211" y="0"/>
                  </a:cubicBezTo>
                  <a:close/>
                </a:path>
              </a:pathLst>
            </a:custGeom>
            <a:solidFill>
              <a:srgbClr val="364C5D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427591" cy="2050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62177" y="199455"/>
            <a:ext cx="17693715" cy="1089073"/>
            <a:chOff x="0" y="0"/>
            <a:chExt cx="23591620" cy="1452098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22889702" y="40618"/>
              <a:ext cx="701918" cy="5122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00"/>
                </a:lnSpc>
                <a:spcBef>
                  <a:spcPct val="0"/>
                </a:spcBef>
              </a:pPr>
              <a:r>
                <a:rPr lang="en-US" sz="2286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12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89819" cy="1452098"/>
            </a:xfrm>
            <a:custGeom>
              <a:avLst/>
              <a:gdLst/>
              <a:ahLst/>
              <a:cxnLst/>
              <a:rect r="r" b="b" t="t" l="l"/>
              <a:pathLst>
                <a:path h="1452098" w="3689819">
                  <a:moveTo>
                    <a:pt x="0" y="0"/>
                  </a:moveTo>
                  <a:lnTo>
                    <a:pt x="3689819" y="0"/>
                  </a:lnTo>
                  <a:lnTo>
                    <a:pt x="3689819" y="1452098"/>
                  </a:lnTo>
                  <a:lnTo>
                    <a:pt x="0" y="14520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5675" r="0" b="-78427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811156" y="1684440"/>
            <a:ext cx="676381" cy="676381"/>
          </a:xfrm>
          <a:custGeom>
            <a:avLst/>
            <a:gdLst/>
            <a:ahLst/>
            <a:cxnLst/>
            <a:rect r="r" b="b" t="t" l="l"/>
            <a:pathLst>
              <a:path h="676381" w="676381">
                <a:moveTo>
                  <a:pt x="0" y="0"/>
                </a:moveTo>
                <a:lnTo>
                  <a:pt x="676381" y="0"/>
                </a:lnTo>
                <a:lnTo>
                  <a:pt x="676381" y="676381"/>
                </a:lnTo>
                <a:lnTo>
                  <a:pt x="0" y="6763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288666" y="1693194"/>
            <a:ext cx="10520051" cy="738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4"/>
              </a:lnSpc>
              <a:spcBef>
                <a:spcPct val="0"/>
              </a:spcBef>
            </a:pPr>
            <a:r>
              <a:rPr lang="en-US" sz="4295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 &amp; Recommendations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75883" y="4707732"/>
            <a:ext cx="6279120" cy="2025703"/>
            <a:chOff x="0" y="0"/>
            <a:chExt cx="8372160" cy="270093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80228"/>
              <a:ext cx="463332" cy="463332"/>
            </a:xfrm>
            <a:custGeom>
              <a:avLst/>
              <a:gdLst/>
              <a:ahLst/>
              <a:cxnLst/>
              <a:rect r="r" b="b" t="t" l="l"/>
              <a:pathLst>
                <a:path h="463332" w="463332">
                  <a:moveTo>
                    <a:pt x="0" y="0"/>
                  </a:moveTo>
                  <a:lnTo>
                    <a:pt x="463332" y="0"/>
                  </a:lnTo>
                  <a:lnTo>
                    <a:pt x="463332" y="463332"/>
                  </a:lnTo>
                  <a:lnTo>
                    <a:pt x="0" y="46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620034" y="-38100"/>
              <a:ext cx="7752126" cy="27390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45"/>
                </a:lnSpc>
              </a:pPr>
              <a:r>
                <a:rPr lang="en-US" sz="1961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Data consistency and preprocessing proved essential: cleaning, standardizing, and handling missing values significantly improved model reliability and performance.</a:t>
              </a:r>
            </a:p>
            <a:p>
              <a:pPr algn="l">
                <a:lnSpc>
                  <a:spcPts val="2745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249201" y="3356916"/>
            <a:ext cx="6399552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FFDE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Actionable Recommendations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5883" y="3321356"/>
            <a:ext cx="4450263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FFDE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</a:t>
            </a:r>
            <a:r>
              <a:rPr lang="en-US" b="true" sz="2799">
                <a:solidFill>
                  <a:srgbClr val="FFDE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ey Insights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1275883" y="6733435"/>
            <a:ext cx="6188492" cy="2025703"/>
            <a:chOff x="0" y="0"/>
            <a:chExt cx="8251322" cy="270093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80228"/>
              <a:ext cx="463332" cy="463332"/>
            </a:xfrm>
            <a:custGeom>
              <a:avLst/>
              <a:gdLst/>
              <a:ahLst/>
              <a:cxnLst/>
              <a:rect r="r" b="b" t="t" l="l"/>
              <a:pathLst>
                <a:path h="463332" w="463332">
                  <a:moveTo>
                    <a:pt x="0" y="0"/>
                  </a:moveTo>
                  <a:lnTo>
                    <a:pt x="463332" y="0"/>
                  </a:lnTo>
                  <a:lnTo>
                    <a:pt x="463332" y="463332"/>
                  </a:lnTo>
                  <a:lnTo>
                    <a:pt x="0" y="46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620034" y="-38100"/>
              <a:ext cx="7631288" cy="27390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45"/>
                </a:lnSpc>
              </a:pPr>
              <a:r>
                <a:rPr lang="en-US" sz="1961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Integration of supervised and unsupervised methods provided complementary perspectives: predictive models delivered accuracy, while clustering uncovered hidden operational patterns that validated and enriched the analysis.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249201" y="4707732"/>
            <a:ext cx="8300304" cy="1333864"/>
            <a:chOff x="0" y="0"/>
            <a:chExt cx="11067073" cy="177848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80228"/>
              <a:ext cx="463332" cy="463332"/>
            </a:xfrm>
            <a:custGeom>
              <a:avLst/>
              <a:gdLst/>
              <a:ahLst/>
              <a:cxnLst/>
              <a:rect r="r" b="b" t="t" l="l"/>
              <a:pathLst>
                <a:path h="463332" w="463332">
                  <a:moveTo>
                    <a:pt x="0" y="0"/>
                  </a:moveTo>
                  <a:lnTo>
                    <a:pt x="463332" y="0"/>
                  </a:lnTo>
                  <a:lnTo>
                    <a:pt x="463332" y="463332"/>
                  </a:lnTo>
                  <a:lnTo>
                    <a:pt x="0" y="46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620034" y="-38100"/>
              <a:ext cx="10447038" cy="18165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45"/>
                </a:lnSpc>
              </a:pPr>
              <a:r>
                <a:rPr lang="en-US" sz="1961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Deploy the GBDT model as the core predictive engine, with continuous monitoring of performance.</a:t>
              </a:r>
            </a:p>
            <a:p>
              <a:pPr algn="l">
                <a:lnSpc>
                  <a:spcPts val="2745"/>
                </a:lnSpc>
              </a:pPr>
            </a:p>
            <a:p>
              <a:pPr algn="l">
                <a:lnSpc>
                  <a:spcPts val="274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249201" y="5962321"/>
            <a:ext cx="8300304" cy="1333864"/>
            <a:chOff x="0" y="0"/>
            <a:chExt cx="11067073" cy="177848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80228"/>
              <a:ext cx="463332" cy="463332"/>
            </a:xfrm>
            <a:custGeom>
              <a:avLst/>
              <a:gdLst/>
              <a:ahLst/>
              <a:cxnLst/>
              <a:rect r="r" b="b" t="t" l="l"/>
              <a:pathLst>
                <a:path h="463332" w="463332">
                  <a:moveTo>
                    <a:pt x="0" y="0"/>
                  </a:moveTo>
                  <a:lnTo>
                    <a:pt x="463332" y="0"/>
                  </a:lnTo>
                  <a:lnTo>
                    <a:pt x="463332" y="463332"/>
                  </a:lnTo>
                  <a:lnTo>
                    <a:pt x="0" y="46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620034" y="-38100"/>
              <a:ext cx="10447038" cy="18165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45"/>
                </a:lnSpc>
              </a:pPr>
              <a:r>
                <a:rPr lang="en-US" sz="1961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Use clustering results to categorize vehicles into risk groups and tailor maintenance schedules accordingly.</a:t>
              </a:r>
            </a:p>
            <a:p>
              <a:pPr algn="l">
                <a:lnSpc>
                  <a:spcPts val="2745"/>
                </a:lnSpc>
              </a:pPr>
            </a:p>
            <a:p>
              <a:pPr algn="l">
                <a:lnSpc>
                  <a:spcPts val="274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249201" y="7216911"/>
            <a:ext cx="8300304" cy="987945"/>
            <a:chOff x="0" y="0"/>
            <a:chExt cx="11067073" cy="13172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80228"/>
              <a:ext cx="463332" cy="463332"/>
            </a:xfrm>
            <a:custGeom>
              <a:avLst/>
              <a:gdLst/>
              <a:ahLst/>
              <a:cxnLst/>
              <a:rect r="r" b="b" t="t" l="l"/>
              <a:pathLst>
                <a:path h="463332" w="463332">
                  <a:moveTo>
                    <a:pt x="0" y="0"/>
                  </a:moveTo>
                  <a:lnTo>
                    <a:pt x="463332" y="0"/>
                  </a:lnTo>
                  <a:lnTo>
                    <a:pt x="463332" y="463332"/>
                  </a:lnTo>
                  <a:lnTo>
                    <a:pt x="0" y="46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620034" y="-38100"/>
              <a:ext cx="10447038" cy="1355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45"/>
                </a:lnSpc>
              </a:pPr>
              <a:r>
                <a:rPr lang="en-US" sz="1961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Integrate explainability tools (e.g., SHAP, cluster reports) into dashboards to build trust among technicians and managers.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4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8495" y="1536001"/>
            <a:ext cx="16811011" cy="7677326"/>
            <a:chOff x="0" y="0"/>
            <a:chExt cx="4427591" cy="20220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27591" cy="2022012"/>
            </a:xfrm>
            <a:custGeom>
              <a:avLst/>
              <a:gdLst/>
              <a:ahLst/>
              <a:cxnLst/>
              <a:rect r="r" b="b" t="t" l="l"/>
              <a:pathLst>
                <a:path h="2022012" w="4427591">
                  <a:moveTo>
                    <a:pt x="9211" y="0"/>
                  </a:moveTo>
                  <a:lnTo>
                    <a:pt x="4418381" y="0"/>
                  </a:lnTo>
                  <a:cubicBezTo>
                    <a:pt x="4420824" y="0"/>
                    <a:pt x="4423166" y="970"/>
                    <a:pt x="4424894" y="2698"/>
                  </a:cubicBezTo>
                  <a:cubicBezTo>
                    <a:pt x="4426621" y="4425"/>
                    <a:pt x="4427591" y="6768"/>
                    <a:pt x="4427591" y="9211"/>
                  </a:cubicBezTo>
                  <a:lnTo>
                    <a:pt x="4427591" y="2012801"/>
                  </a:lnTo>
                  <a:cubicBezTo>
                    <a:pt x="4427591" y="2015244"/>
                    <a:pt x="4426621" y="2017587"/>
                    <a:pt x="4424894" y="2019314"/>
                  </a:cubicBezTo>
                  <a:cubicBezTo>
                    <a:pt x="4423166" y="2021041"/>
                    <a:pt x="4420824" y="2022012"/>
                    <a:pt x="4418381" y="2022012"/>
                  </a:cubicBezTo>
                  <a:lnTo>
                    <a:pt x="9211" y="2022012"/>
                  </a:lnTo>
                  <a:cubicBezTo>
                    <a:pt x="6768" y="2022012"/>
                    <a:pt x="4425" y="2021041"/>
                    <a:pt x="2698" y="2019314"/>
                  </a:cubicBezTo>
                  <a:cubicBezTo>
                    <a:pt x="970" y="2017587"/>
                    <a:pt x="0" y="2015244"/>
                    <a:pt x="0" y="2012801"/>
                  </a:cubicBezTo>
                  <a:lnTo>
                    <a:pt x="0" y="9211"/>
                  </a:lnTo>
                  <a:cubicBezTo>
                    <a:pt x="0" y="6768"/>
                    <a:pt x="970" y="4425"/>
                    <a:pt x="2698" y="2698"/>
                  </a:cubicBezTo>
                  <a:cubicBezTo>
                    <a:pt x="4425" y="970"/>
                    <a:pt x="6768" y="0"/>
                    <a:pt x="9211" y="0"/>
                  </a:cubicBezTo>
                  <a:close/>
                </a:path>
              </a:pathLst>
            </a:custGeom>
            <a:solidFill>
              <a:srgbClr val="364C5D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427591" cy="2050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62177" y="199455"/>
            <a:ext cx="17693715" cy="1089073"/>
            <a:chOff x="0" y="0"/>
            <a:chExt cx="23591620" cy="1452098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22889702" y="40618"/>
              <a:ext cx="701918" cy="5122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00"/>
                </a:lnSpc>
                <a:spcBef>
                  <a:spcPct val="0"/>
                </a:spcBef>
              </a:pPr>
              <a:r>
                <a:rPr lang="en-US" sz="2286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13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89819" cy="1452098"/>
            </a:xfrm>
            <a:custGeom>
              <a:avLst/>
              <a:gdLst/>
              <a:ahLst/>
              <a:cxnLst/>
              <a:rect r="r" b="b" t="t" l="l"/>
              <a:pathLst>
                <a:path h="1452098" w="3689819">
                  <a:moveTo>
                    <a:pt x="0" y="0"/>
                  </a:moveTo>
                  <a:lnTo>
                    <a:pt x="3689819" y="0"/>
                  </a:lnTo>
                  <a:lnTo>
                    <a:pt x="3689819" y="1452098"/>
                  </a:lnTo>
                  <a:lnTo>
                    <a:pt x="0" y="14520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5675" r="0" b="-78427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811156" y="1684440"/>
            <a:ext cx="676381" cy="676381"/>
          </a:xfrm>
          <a:custGeom>
            <a:avLst/>
            <a:gdLst/>
            <a:ahLst/>
            <a:cxnLst/>
            <a:rect r="r" b="b" t="t" l="l"/>
            <a:pathLst>
              <a:path h="676381" w="676381">
                <a:moveTo>
                  <a:pt x="0" y="0"/>
                </a:moveTo>
                <a:lnTo>
                  <a:pt x="676381" y="0"/>
                </a:lnTo>
                <a:lnTo>
                  <a:pt x="676381" y="676381"/>
                </a:lnTo>
                <a:lnTo>
                  <a:pt x="0" y="6763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513213" y="5031175"/>
            <a:ext cx="4286523" cy="2236671"/>
            <a:chOff x="0" y="0"/>
            <a:chExt cx="1128961" cy="58908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28961" cy="589082"/>
            </a:xfrm>
            <a:custGeom>
              <a:avLst/>
              <a:gdLst/>
              <a:ahLst/>
              <a:cxnLst/>
              <a:rect r="r" b="b" t="t" l="l"/>
              <a:pathLst>
                <a:path h="589082" w="1128961">
                  <a:moveTo>
                    <a:pt x="36122" y="0"/>
                  </a:moveTo>
                  <a:lnTo>
                    <a:pt x="1092839" y="0"/>
                  </a:lnTo>
                  <a:cubicBezTo>
                    <a:pt x="1112788" y="0"/>
                    <a:pt x="1128961" y="16172"/>
                    <a:pt x="1128961" y="36122"/>
                  </a:cubicBezTo>
                  <a:lnTo>
                    <a:pt x="1128961" y="552960"/>
                  </a:lnTo>
                  <a:cubicBezTo>
                    <a:pt x="1128961" y="572910"/>
                    <a:pt x="1112788" y="589082"/>
                    <a:pt x="1092839" y="589082"/>
                  </a:cubicBezTo>
                  <a:lnTo>
                    <a:pt x="36122" y="589082"/>
                  </a:lnTo>
                  <a:cubicBezTo>
                    <a:pt x="16172" y="589082"/>
                    <a:pt x="0" y="572910"/>
                    <a:pt x="0" y="552960"/>
                  </a:cubicBezTo>
                  <a:lnTo>
                    <a:pt x="0" y="36122"/>
                  </a:lnTo>
                  <a:cubicBezTo>
                    <a:pt x="0" y="16172"/>
                    <a:pt x="16172" y="0"/>
                    <a:pt x="36122" y="0"/>
                  </a:cubicBezTo>
                  <a:close/>
                </a:path>
              </a:pathLst>
            </a:custGeom>
            <a:solidFill>
              <a:srgbClr val="142431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128961" cy="617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065773" y="5031175"/>
            <a:ext cx="4286523" cy="2236671"/>
            <a:chOff x="0" y="0"/>
            <a:chExt cx="1128961" cy="58908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28961" cy="589082"/>
            </a:xfrm>
            <a:custGeom>
              <a:avLst/>
              <a:gdLst/>
              <a:ahLst/>
              <a:cxnLst/>
              <a:rect r="r" b="b" t="t" l="l"/>
              <a:pathLst>
                <a:path h="589082" w="1128961">
                  <a:moveTo>
                    <a:pt x="36122" y="0"/>
                  </a:moveTo>
                  <a:lnTo>
                    <a:pt x="1092839" y="0"/>
                  </a:lnTo>
                  <a:cubicBezTo>
                    <a:pt x="1112788" y="0"/>
                    <a:pt x="1128961" y="16172"/>
                    <a:pt x="1128961" y="36122"/>
                  </a:cubicBezTo>
                  <a:lnTo>
                    <a:pt x="1128961" y="552960"/>
                  </a:lnTo>
                  <a:cubicBezTo>
                    <a:pt x="1128961" y="572910"/>
                    <a:pt x="1112788" y="589082"/>
                    <a:pt x="1092839" y="589082"/>
                  </a:cubicBezTo>
                  <a:lnTo>
                    <a:pt x="36122" y="589082"/>
                  </a:lnTo>
                  <a:cubicBezTo>
                    <a:pt x="16172" y="589082"/>
                    <a:pt x="0" y="572910"/>
                    <a:pt x="0" y="552960"/>
                  </a:cubicBezTo>
                  <a:lnTo>
                    <a:pt x="0" y="36122"/>
                  </a:lnTo>
                  <a:cubicBezTo>
                    <a:pt x="0" y="16172"/>
                    <a:pt x="16172" y="0"/>
                    <a:pt x="36122" y="0"/>
                  </a:cubicBezTo>
                  <a:close/>
                </a:path>
              </a:pathLst>
            </a:custGeom>
            <a:solidFill>
              <a:srgbClr val="142431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128961" cy="617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977638" y="5031175"/>
            <a:ext cx="4286523" cy="2236671"/>
            <a:chOff x="0" y="0"/>
            <a:chExt cx="1128961" cy="58908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28961" cy="589082"/>
            </a:xfrm>
            <a:custGeom>
              <a:avLst/>
              <a:gdLst/>
              <a:ahLst/>
              <a:cxnLst/>
              <a:rect r="r" b="b" t="t" l="l"/>
              <a:pathLst>
                <a:path h="589082" w="1128961">
                  <a:moveTo>
                    <a:pt x="36122" y="0"/>
                  </a:moveTo>
                  <a:lnTo>
                    <a:pt x="1092839" y="0"/>
                  </a:lnTo>
                  <a:cubicBezTo>
                    <a:pt x="1112788" y="0"/>
                    <a:pt x="1128961" y="16172"/>
                    <a:pt x="1128961" y="36122"/>
                  </a:cubicBezTo>
                  <a:lnTo>
                    <a:pt x="1128961" y="552960"/>
                  </a:lnTo>
                  <a:cubicBezTo>
                    <a:pt x="1128961" y="572910"/>
                    <a:pt x="1112788" y="589082"/>
                    <a:pt x="1092839" y="589082"/>
                  </a:cubicBezTo>
                  <a:lnTo>
                    <a:pt x="36122" y="589082"/>
                  </a:lnTo>
                  <a:cubicBezTo>
                    <a:pt x="16172" y="589082"/>
                    <a:pt x="0" y="572910"/>
                    <a:pt x="0" y="552960"/>
                  </a:cubicBezTo>
                  <a:lnTo>
                    <a:pt x="0" y="36122"/>
                  </a:lnTo>
                  <a:cubicBezTo>
                    <a:pt x="0" y="16172"/>
                    <a:pt x="16172" y="0"/>
                    <a:pt x="36122" y="0"/>
                  </a:cubicBezTo>
                  <a:close/>
                </a:path>
              </a:pathLst>
            </a:custGeom>
            <a:solidFill>
              <a:srgbClr val="142431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128961" cy="617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5585612" y="4740632"/>
            <a:ext cx="678550" cy="581085"/>
          </a:xfrm>
          <a:custGeom>
            <a:avLst/>
            <a:gdLst/>
            <a:ahLst/>
            <a:cxnLst/>
            <a:rect r="r" b="b" t="t" l="l"/>
            <a:pathLst>
              <a:path h="581085" w="678550">
                <a:moveTo>
                  <a:pt x="0" y="0"/>
                </a:moveTo>
                <a:lnTo>
                  <a:pt x="678549" y="0"/>
                </a:lnTo>
                <a:lnTo>
                  <a:pt x="678549" y="581085"/>
                </a:lnTo>
                <a:lnTo>
                  <a:pt x="0" y="5810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671542" y="4602437"/>
            <a:ext cx="810579" cy="812337"/>
          </a:xfrm>
          <a:custGeom>
            <a:avLst/>
            <a:gdLst/>
            <a:ahLst/>
            <a:cxnLst/>
            <a:rect r="r" b="b" t="t" l="l"/>
            <a:pathLst>
              <a:path h="812337" w="810579">
                <a:moveTo>
                  <a:pt x="0" y="0"/>
                </a:moveTo>
                <a:lnTo>
                  <a:pt x="810579" y="0"/>
                </a:lnTo>
                <a:lnTo>
                  <a:pt x="810579" y="812337"/>
                </a:lnTo>
                <a:lnTo>
                  <a:pt x="0" y="8123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6254146" y="4740632"/>
            <a:ext cx="855360" cy="855360"/>
          </a:xfrm>
          <a:custGeom>
            <a:avLst/>
            <a:gdLst/>
            <a:ahLst/>
            <a:cxnLst/>
            <a:rect r="r" b="b" t="t" l="l"/>
            <a:pathLst>
              <a:path h="855360" w="855360">
                <a:moveTo>
                  <a:pt x="0" y="0"/>
                </a:moveTo>
                <a:lnTo>
                  <a:pt x="855360" y="0"/>
                </a:lnTo>
                <a:lnTo>
                  <a:pt x="855360" y="855360"/>
                </a:lnTo>
                <a:lnTo>
                  <a:pt x="0" y="8553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288666" y="1693194"/>
            <a:ext cx="10520051" cy="738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4"/>
              </a:lnSpc>
              <a:spcBef>
                <a:spcPct val="0"/>
              </a:spcBef>
            </a:pPr>
            <a:r>
              <a:rPr lang="en-US" sz="4295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 &amp; Recommendations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11156" y="3463995"/>
            <a:ext cx="445026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FFDE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Futur</a:t>
            </a:r>
            <a:r>
              <a:rPr lang="en-US" b="true" sz="2799">
                <a:solidFill>
                  <a:srgbClr val="FFDE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 Work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487537" y="5470527"/>
            <a:ext cx="3416186" cy="1329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9"/>
              </a:lnSpc>
              <a:spcBef>
                <a:spcPct val="0"/>
              </a:spcBef>
            </a:pPr>
            <a:r>
              <a:rPr lang="en-US" b="true" sz="190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Optimize predictive thresholds by balancing breakdown costs against maintenance costs.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523973" y="5386199"/>
            <a:ext cx="3370124" cy="1498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4"/>
              </a:lnSpc>
              <a:spcBef>
                <a:spcPct val="0"/>
              </a:spcBef>
            </a:pPr>
            <a:r>
              <a:rPr lang="en-US" sz="171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Conduc</a:t>
            </a:r>
            <a:r>
              <a:rPr lang="en-US" b="true" sz="171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 field experiments to measure the real-world impact of the model on reducing breakdowns and operational costs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971413" y="5537491"/>
            <a:ext cx="3370124" cy="1195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4"/>
              </a:lnSpc>
              <a:spcBef>
                <a:spcPct val="0"/>
              </a:spcBef>
            </a:pPr>
            <a:r>
              <a:rPr lang="en-US" sz="171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Enrich</a:t>
            </a:r>
            <a:r>
              <a:rPr lang="en-US" b="true" sz="171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the dataset with additional indicators such as driving style and environmental conditions.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24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8495" y="1536001"/>
            <a:ext cx="16811011" cy="7677326"/>
            <a:chOff x="0" y="0"/>
            <a:chExt cx="4427591" cy="20220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27591" cy="2022012"/>
            </a:xfrm>
            <a:custGeom>
              <a:avLst/>
              <a:gdLst/>
              <a:ahLst/>
              <a:cxnLst/>
              <a:rect r="r" b="b" t="t" l="l"/>
              <a:pathLst>
                <a:path h="2022012" w="4427591">
                  <a:moveTo>
                    <a:pt x="9211" y="0"/>
                  </a:moveTo>
                  <a:lnTo>
                    <a:pt x="4418381" y="0"/>
                  </a:lnTo>
                  <a:cubicBezTo>
                    <a:pt x="4420824" y="0"/>
                    <a:pt x="4423166" y="970"/>
                    <a:pt x="4424894" y="2698"/>
                  </a:cubicBezTo>
                  <a:cubicBezTo>
                    <a:pt x="4426621" y="4425"/>
                    <a:pt x="4427591" y="6768"/>
                    <a:pt x="4427591" y="9211"/>
                  </a:cubicBezTo>
                  <a:lnTo>
                    <a:pt x="4427591" y="2012801"/>
                  </a:lnTo>
                  <a:cubicBezTo>
                    <a:pt x="4427591" y="2015244"/>
                    <a:pt x="4426621" y="2017587"/>
                    <a:pt x="4424894" y="2019314"/>
                  </a:cubicBezTo>
                  <a:cubicBezTo>
                    <a:pt x="4423166" y="2021041"/>
                    <a:pt x="4420824" y="2022012"/>
                    <a:pt x="4418381" y="2022012"/>
                  </a:cubicBezTo>
                  <a:lnTo>
                    <a:pt x="9211" y="2022012"/>
                  </a:lnTo>
                  <a:cubicBezTo>
                    <a:pt x="6768" y="2022012"/>
                    <a:pt x="4425" y="2021041"/>
                    <a:pt x="2698" y="2019314"/>
                  </a:cubicBezTo>
                  <a:cubicBezTo>
                    <a:pt x="970" y="2017587"/>
                    <a:pt x="0" y="2015244"/>
                    <a:pt x="0" y="2012801"/>
                  </a:cubicBezTo>
                  <a:lnTo>
                    <a:pt x="0" y="9211"/>
                  </a:lnTo>
                  <a:cubicBezTo>
                    <a:pt x="0" y="6768"/>
                    <a:pt x="970" y="4425"/>
                    <a:pt x="2698" y="2698"/>
                  </a:cubicBezTo>
                  <a:cubicBezTo>
                    <a:pt x="4425" y="970"/>
                    <a:pt x="6768" y="0"/>
                    <a:pt x="9211" y="0"/>
                  </a:cubicBezTo>
                  <a:close/>
                </a:path>
              </a:pathLst>
            </a:custGeom>
            <a:solidFill>
              <a:srgbClr val="364C5D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427591" cy="2050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62177" y="199455"/>
            <a:ext cx="17693715" cy="1089073"/>
            <a:chOff x="0" y="0"/>
            <a:chExt cx="23591620" cy="1452098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22889702" y="40618"/>
              <a:ext cx="701918" cy="5122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00"/>
                </a:lnSpc>
                <a:spcBef>
                  <a:spcPct val="0"/>
                </a:spcBef>
              </a:pPr>
              <a:r>
                <a:rPr lang="en-US" sz="2286">
                  <a:solidFill>
                    <a:srgbClr val="EEEEE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14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89819" cy="1452098"/>
            </a:xfrm>
            <a:custGeom>
              <a:avLst/>
              <a:gdLst/>
              <a:ahLst/>
              <a:cxnLst/>
              <a:rect r="r" b="b" t="t" l="l"/>
              <a:pathLst>
                <a:path h="1452098" w="3689819">
                  <a:moveTo>
                    <a:pt x="0" y="0"/>
                  </a:moveTo>
                  <a:lnTo>
                    <a:pt x="3689819" y="0"/>
                  </a:lnTo>
                  <a:lnTo>
                    <a:pt x="3689819" y="1452098"/>
                  </a:lnTo>
                  <a:lnTo>
                    <a:pt x="0" y="14520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5675" r="0" b="-7842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513213" y="5031175"/>
            <a:ext cx="4286523" cy="2236671"/>
            <a:chOff x="0" y="0"/>
            <a:chExt cx="1128961" cy="58908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28961" cy="589082"/>
            </a:xfrm>
            <a:custGeom>
              <a:avLst/>
              <a:gdLst/>
              <a:ahLst/>
              <a:cxnLst/>
              <a:rect r="r" b="b" t="t" l="l"/>
              <a:pathLst>
                <a:path h="589082" w="1128961">
                  <a:moveTo>
                    <a:pt x="36122" y="0"/>
                  </a:moveTo>
                  <a:lnTo>
                    <a:pt x="1092839" y="0"/>
                  </a:lnTo>
                  <a:cubicBezTo>
                    <a:pt x="1112788" y="0"/>
                    <a:pt x="1128961" y="16172"/>
                    <a:pt x="1128961" y="36122"/>
                  </a:cubicBezTo>
                  <a:lnTo>
                    <a:pt x="1128961" y="552960"/>
                  </a:lnTo>
                  <a:cubicBezTo>
                    <a:pt x="1128961" y="572910"/>
                    <a:pt x="1112788" y="589082"/>
                    <a:pt x="1092839" y="589082"/>
                  </a:cubicBezTo>
                  <a:lnTo>
                    <a:pt x="36122" y="589082"/>
                  </a:lnTo>
                  <a:cubicBezTo>
                    <a:pt x="16172" y="589082"/>
                    <a:pt x="0" y="572910"/>
                    <a:pt x="0" y="552960"/>
                  </a:cubicBezTo>
                  <a:lnTo>
                    <a:pt x="0" y="36122"/>
                  </a:lnTo>
                  <a:cubicBezTo>
                    <a:pt x="0" y="16172"/>
                    <a:pt x="16172" y="0"/>
                    <a:pt x="36122" y="0"/>
                  </a:cubicBezTo>
                  <a:close/>
                </a:path>
              </a:pathLst>
            </a:custGeom>
            <a:solidFill>
              <a:srgbClr val="142431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128961" cy="617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065773" y="5031175"/>
            <a:ext cx="4286523" cy="2236671"/>
            <a:chOff x="0" y="0"/>
            <a:chExt cx="1128961" cy="5890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28961" cy="589082"/>
            </a:xfrm>
            <a:custGeom>
              <a:avLst/>
              <a:gdLst/>
              <a:ahLst/>
              <a:cxnLst/>
              <a:rect r="r" b="b" t="t" l="l"/>
              <a:pathLst>
                <a:path h="589082" w="1128961">
                  <a:moveTo>
                    <a:pt x="36122" y="0"/>
                  </a:moveTo>
                  <a:lnTo>
                    <a:pt x="1092839" y="0"/>
                  </a:lnTo>
                  <a:cubicBezTo>
                    <a:pt x="1112788" y="0"/>
                    <a:pt x="1128961" y="16172"/>
                    <a:pt x="1128961" y="36122"/>
                  </a:cubicBezTo>
                  <a:lnTo>
                    <a:pt x="1128961" y="552960"/>
                  </a:lnTo>
                  <a:cubicBezTo>
                    <a:pt x="1128961" y="572910"/>
                    <a:pt x="1112788" y="589082"/>
                    <a:pt x="1092839" y="589082"/>
                  </a:cubicBezTo>
                  <a:lnTo>
                    <a:pt x="36122" y="589082"/>
                  </a:lnTo>
                  <a:cubicBezTo>
                    <a:pt x="16172" y="589082"/>
                    <a:pt x="0" y="572910"/>
                    <a:pt x="0" y="552960"/>
                  </a:cubicBezTo>
                  <a:lnTo>
                    <a:pt x="0" y="36122"/>
                  </a:lnTo>
                  <a:cubicBezTo>
                    <a:pt x="0" y="16172"/>
                    <a:pt x="16172" y="0"/>
                    <a:pt x="36122" y="0"/>
                  </a:cubicBezTo>
                  <a:close/>
                </a:path>
              </a:pathLst>
            </a:custGeom>
            <a:solidFill>
              <a:srgbClr val="142431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128961" cy="617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977638" y="5031175"/>
            <a:ext cx="4286523" cy="2236671"/>
            <a:chOff x="0" y="0"/>
            <a:chExt cx="1128961" cy="58908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28961" cy="589082"/>
            </a:xfrm>
            <a:custGeom>
              <a:avLst/>
              <a:gdLst/>
              <a:ahLst/>
              <a:cxnLst/>
              <a:rect r="r" b="b" t="t" l="l"/>
              <a:pathLst>
                <a:path h="589082" w="1128961">
                  <a:moveTo>
                    <a:pt x="36122" y="0"/>
                  </a:moveTo>
                  <a:lnTo>
                    <a:pt x="1092839" y="0"/>
                  </a:lnTo>
                  <a:cubicBezTo>
                    <a:pt x="1112788" y="0"/>
                    <a:pt x="1128961" y="16172"/>
                    <a:pt x="1128961" y="36122"/>
                  </a:cubicBezTo>
                  <a:lnTo>
                    <a:pt x="1128961" y="552960"/>
                  </a:lnTo>
                  <a:cubicBezTo>
                    <a:pt x="1128961" y="572910"/>
                    <a:pt x="1112788" y="589082"/>
                    <a:pt x="1092839" y="589082"/>
                  </a:cubicBezTo>
                  <a:lnTo>
                    <a:pt x="36122" y="589082"/>
                  </a:lnTo>
                  <a:cubicBezTo>
                    <a:pt x="16172" y="589082"/>
                    <a:pt x="0" y="572910"/>
                    <a:pt x="0" y="552960"/>
                  </a:cubicBezTo>
                  <a:lnTo>
                    <a:pt x="0" y="36122"/>
                  </a:lnTo>
                  <a:cubicBezTo>
                    <a:pt x="0" y="16172"/>
                    <a:pt x="16172" y="0"/>
                    <a:pt x="36122" y="0"/>
                  </a:cubicBezTo>
                  <a:close/>
                </a:path>
              </a:pathLst>
            </a:custGeom>
            <a:solidFill>
              <a:srgbClr val="142431"/>
            </a:solidFill>
            <a:ln w="19050" cap="sq">
              <a:solidFill>
                <a:srgbClr val="EEEEEE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128961" cy="617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66705" y="4674768"/>
            <a:ext cx="839723" cy="740006"/>
          </a:xfrm>
          <a:custGeom>
            <a:avLst/>
            <a:gdLst/>
            <a:ahLst/>
            <a:cxnLst/>
            <a:rect r="r" b="b" t="t" l="l"/>
            <a:pathLst>
              <a:path h="740006" w="839723">
                <a:moveTo>
                  <a:pt x="0" y="0"/>
                </a:moveTo>
                <a:lnTo>
                  <a:pt x="839723" y="0"/>
                </a:lnTo>
                <a:lnTo>
                  <a:pt x="839723" y="740006"/>
                </a:lnTo>
                <a:lnTo>
                  <a:pt x="0" y="7400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206428" y="2829573"/>
            <a:ext cx="6097375" cy="738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4"/>
              </a:lnSpc>
              <a:spcBef>
                <a:spcPct val="0"/>
              </a:spcBef>
            </a:pPr>
            <a:r>
              <a:rPr lang="en-US" sz="4295">
                <a:solidFill>
                  <a:srgbClr val="EEEEE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Lessons Learned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23973" y="5386199"/>
            <a:ext cx="3370124" cy="1800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4"/>
              </a:lnSpc>
            </a:pPr>
            <a:r>
              <a:rPr lang="en-US" sz="171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Ad</a:t>
            </a:r>
            <a:r>
              <a:rPr lang="en-US" sz="171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dressing class imbalance is critical to ensure fairness and prevent bias toward one category.</a:t>
            </a:r>
          </a:p>
          <a:p>
            <a:pPr algn="l">
              <a:lnSpc>
                <a:spcPts val="2394"/>
              </a:lnSpc>
            </a:pPr>
          </a:p>
          <a:p>
            <a:pPr algn="l">
              <a:lnSpc>
                <a:spcPts val="2394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2971413" y="5346089"/>
            <a:ext cx="3370124" cy="1800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4"/>
              </a:lnSpc>
            </a:pPr>
            <a:r>
              <a:rPr lang="en-US" sz="171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</a:t>
            </a:r>
            <a:r>
              <a:rPr lang="en-US" sz="171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ata consistency is essential for the success of any model; cleaning and standardization directly improve results.</a:t>
            </a:r>
          </a:p>
          <a:p>
            <a:pPr algn="l">
              <a:lnSpc>
                <a:spcPts val="2394"/>
              </a:lnSpc>
            </a:pPr>
          </a:p>
          <a:p>
            <a:pPr algn="l">
              <a:lnSpc>
                <a:spcPts val="2394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2472427" y="5346089"/>
            <a:ext cx="3296946" cy="183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4"/>
              </a:lnSpc>
            </a:pPr>
            <a:r>
              <a:rPr lang="en-US" sz="1739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</a:t>
            </a:r>
            <a:r>
              <a:rPr lang="en-US" sz="1739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ignal strength matters more than feature quantity; a few strong indicators proved more impactful than dozens of weaker ones.</a:t>
            </a:r>
          </a:p>
          <a:p>
            <a:pPr algn="l">
              <a:lnSpc>
                <a:spcPts val="2434"/>
              </a:lnSpc>
              <a:spcBef>
                <a:spcPct val="0"/>
              </a:spcBef>
            </a:pP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6684250" y="4674768"/>
            <a:ext cx="839723" cy="740006"/>
          </a:xfrm>
          <a:custGeom>
            <a:avLst/>
            <a:gdLst/>
            <a:ahLst/>
            <a:cxnLst/>
            <a:rect r="r" b="b" t="t" l="l"/>
            <a:pathLst>
              <a:path h="740006" w="839723">
                <a:moveTo>
                  <a:pt x="0" y="0"/>
                </a:moveTo>
                <a:lnTo>
                  <a:pt x="839723" y="0"/>
                </a:lnTo>
                <a:lnTo>
                  <a:pt x="839723" y="740006"/>
                </a:lnTo>
                <a:lnTo>
                  <a:pt x="0" y="7400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001794" y="4674768"/>
            <a:ext cx="839723" cy="740006"/>
          </a:xfrm>
          <a:custGeom>
            <a:avLst/>
            <a:gdLst/>
            <a:ahLst/>
            <a:cxnLst/>
            <a:rect r="r" b="b" t="t" l="l"/>
            <a:pathLst>
              <a:path h="740006" w="839723">
                <a:moveTo>
                  <a:pt x="0" y="0"/>
                </a:moveTo>
                <a:lnTo>
                  <a:pt x="839723" y="0"/>
                </a:lnTo>
                <a:lnTo>
                  <a:pt x="839723" y="740006"/>
                </a:lnTo>
                <a:lnTo>
                  <a:pt x="0" y="7400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977638" y="2821661"/>
            <a:ext cx="676381" cy="676381"/>
          </a:xfrm>
          <a:custGeom>
            <a:avLst/>
            <a:gdLst/>
            <a:ahLst/>
            <a:cxnLst/>
            <a:rect r="r" b="b" t="t" l="l"/>
            <a:pathLst>
              <a:path h="676381" w="676381">
                <a:moveTo>
                  <a:pt x="0" y="0"/>
                </a:moveTo>
                <a:lnTo>
                  <a:pt x="676382" y="0"/>
                </a:lnTo>
                <a:lnTo>
                  <a:pt x="676382" y="676381"/>
                </a:lnTo>
                <a:lnTo>
                  <a:pt x="0" y="6763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DAG69MFj_Ws</dc:identifier>
  <dcterms:modified xsi:type="dcterms:W3CDTF">2011-08-01T06:04:30Z</dcterms:modified>
  <cp:revision>1</cp:revision>
  <dc:title>Selected Project</dc:title>
</cp:coreProperties>
</file>